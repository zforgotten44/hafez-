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2130"/>
                </a:solidFill>
                <a:latin typeface="+mn-lt"/>
              </a:defRPr>
            </a:pPr>
            <a:r>
              <a:rPr sz="1400" b="0" i="0" u="none" strike="noStrike">
                <a:solidFill>
                  <a:srgbClr val="1A2130"/>
                </a:solidFill>
                <a:latin typeface="+mn-lt"/>
              </a:rPr>
              <a:t>How the 3,103 were confirmed</a:t>
            </a:r>
          </a:p>
        </c:rich>
      </c:tx>
      <c:layout/>
      <c:overlay val="0"/>
    </c:title>
    <c:autoTitleDeleted val="0"/>
    <c:plotArea>
      <c:layout/>
      <c:barChart>
        <c:barDir val="bar"/>
        <c:grouping val="clustered"/>
        <c:varyColors val="0"/>
        <c:ser>
          <c:idx val="0"/>
          <c:order val="0"/>
          <c:tx>
            <c:strRef>
              <c:f>Sheet1!$B$1</c:f>
              <c:strCache>
                <c:ptCount val="1"/>
                <c:pt idx="0">
                  <c:v>Verified lots</c:v>
                </c:pt>
              </c:strCache>
            </c:strRef>
          </c:tx>
          <c:spPr>
            <a:solidFill>
              <a:srgbClr val="2F6B46"/>
            </a:solidFill>
            <a:effectLst/>
          </c:spPr>
          <c:invertIfNegative val="0"/>
          <c:dLbls>
            <c:numFmt formatCode="#,##0" sourceLinked="0"/>
            <c:txPr>
              <a:bodyPr/>
              <a:lstStyle/>
              <a:p>
                <a:pPr>
                  <a:defRPr b="0" i="0" strike="noStrike" sz="1200" u="none">
                    <a:solidFill>
                      <a:srgbClr val="1A2130"/>
                    </a:solidFill>
                    <a:latin typeface="+mn-lt"/>
                  </a:defRPr>
                </a:pPr>
              </a:p>
            </c:txPr>
            <c:showLegendKey val="0"/>
            <c:showVal val="1"/>
            <c:showCatName val="0"/>
            <c:showSerName val="0"/>
            <c:showPercent val="0"/>
            <c:showBubbleSize val="0"/>
            <c:showLeaderLines val="0"/>
          </c:dLbls>
          <c:cat>
            <c:multiLvlStrRef>
              <c:f>Sheet1!$A$2:$A$3</c:f>
              <c:multiLvlStrCache>
                <c:ptCount val="2"/>
                <c:lvl>
                  <c:pt idx="0">
                    <c:v>Section confirmed by two readings</c:v>
                  </c:pt>
                  <c:pt idx="1">
                    <c:v>Section inferred from neighbours</c:v>
                  </c:pt>
                </c:lvl>
              </c:multiLvlStrCache>
            </c:multiLvlStrRef>
          </c:cat>
          <c:val>
            <c:numRef>
              <c:f>Sheet1!$B$2:$B$3</c:f>
              <c:numCache>
                <c:formatCode>General</c:formatCode>
                <c:ptCount val="2"/>
                <c:pt idx="0">
                  <c:v>2709</c:v>
                </c:pt>
                <c:pt idx="1">
                  <c:v>394</c:v>
                </c:pt>
              </c:numCache>
            </c:numRef>
          </c:val>
        </c:ser>
        <c:dLbls>
          <c:numFmt formatCode="#,##0" sourceLinked="0"/>
          <c:txPr>
            <a:bodyPr/>
            <a:lstStyle/>
            <a:p>
              <a:pPr>
                <a:defRPr b="0" i="0" strike="noStrike" sz="1200" u="none">
                  <a:solidFill>
                    <a:srgbClr val="1A21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A2130"/>
                </a:solidFill>
                <a:latin typeface="+mn-lt"/>
              </a:defRPr>
            </a:pPr>
            <a:endParaRPr lang="en-US"/>
          </a:p>
        </c:txPr>
        <c:crossAx val="2094734552"/>
        <c:crosses val="autoZero"/>
        <c:auto val="1"/>
        <c:lblAlgn val="ctr"/>
        <c:noMultiLvlLbl val="1"/>
      </c:catAx>
      <c:valAx>
        <c:axId val="2094734552"/>
        <c:scaling>
          <c:orientation val="minMax"/>
          <c:max val="33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2130"/>
                </a:solidFill>
                <a:latin typeface="+mn-lt"/>
              </a:defRPr>
            </a:pPr>
            <a:r>
              <a:rPr sz="1400" b="0" i="0" u="none" strike="noStrike">
                <a:solidFill>
                  <a:srgbClr val="1A2130"/>
                </a:solidFill>
                <a:latin typeface="+mn-lt"/>
              </a:rPr>
              <a:t>Why the 218 are unresolved</a:t>
            </a:r>
          </a:p>
        </c:rich>
      </c:tx>
      <c:layout/>
      <c:overlay val="0"/>
    </c:title>
    <c:autoTitleDeleted val="0"/>
    <c:plotArea>
      <c:layout/>
      <c:barChart>
        <c:barDir val="bar"/>
        <c:grouping val="clustered"/>
        <c:varyColors val="0"/>
        <c:ser>
          <c:idx val="0"/>
          <c:order val="0"/>
          <c:tx>
            <c:strRef>
              <c:f>Sheet1!$B$1</c:f>
              <c:strCache>
                <c:ptCount val="1"/>
                <c:pt idx="0">
                  <c:v>Visible lots</c:v>
                </c:pt>
              </c:strCache>
            </c:strRef>
          </c:tx>
          <c:spPr>
            <a:solidFill>
              <a:srgbClr val="C9892F"/>
            </a:solidFill>
            <a:effectLst/>
          </c:spPr>
          <c:invertIfNegative val="0"/>
          <c:dLbls>
            <c:numFmt formatCode="#,##0" sourceLinked="0"/>
            <c:txPr>
              <a:bodyPr/>
              <a:lstStyle/>
              <a:p>
                <a:pPr>
                  <a:defRPr b="0" i="0" strike="noStrike" sz="1200" u="none">
                    <a:solidFill>
                      <a:srgbClr val="1A2130"/>
                    </a:solidFill>
                    <a:latin typeface="+mn-lt"/>
                  </a:defRPr>
                </a:pPr>
              </a:p>
            </c:txPr>
            <c:showLegendKey val="0"/>
            <c:showVal val="1"/>
            <c:showCatName val="0"/>
            <c:showSerName val="0"/>
            <c:showPercent val="0"/>
            <c:showBubbleSize val="0"/>
            <c:showLeaderLines val="0"/>
          </c:dLbls>
          <c:cat>
            <c:multiLvlStrRef>
              <c:f>Sheet1!$A$2:$A$7</c:f>
              <c:multiLvlStrCache>
                <c:ptCount val="6"/>
                <c:lvl>
                  <c:pt idx="0">
                    <c:v>Label not in this area's section</c:v>
                  </c:pt>
                  <c:pt idx="1">
                    <c:v>No area evidence (crypt rows)</c:v>
                  </c:pt>
                  <c:pt idx="2">
                    <c:v>Same label twice in a section</c:v>
                  </c:pt>
                  <c:pt idx="3">
                    <c:v>Number far from neighbours</c:v>
                  </c:pt>
                  <c:pt idx="4">
                    <c:v>Label unknown to decoder</c:v>
                  </c:pt>
                  <c:pt idx="5">
                    <c:v>Outline with no label</c:v>
                  </c:pt>
                </c:lvl>
              </c:multiLvlStrCache>
            </c:multiLvlStrRef>
          </c:cat>
          <c:val>
            <c:numRef>
              <c:f>Sheet1!$B$2:$B$7</c:f>
              <c:numCache>
                <c:formatCode>General</c:formatCode>
                <c:ptCount val="6"/>
                <c:pt idx="0">
                  <c:v>77</c:v>
                </c:pt>
                <c:pt idx="1">
                  <c:v>72</c:v>
                </c:pt>
                <c:pt idx="2">
                  <c:v>28</c:v>
                </c:pt>
                <c:pt idx="3">
                  <c:v>20</c:v>
                </c:pt>
                <c:pt idx="4">
                  <c:v>12</c:v>
                </c:pt>
                <c:pt idx="5">
                  <c:v>9</c:v>
                </c:pt>
              </c:numCache>
            </c:numRef>
          </c:val>
        </c:ser>
        <c:dLbls>
          <c:numFmt formatCode="#,##0" sourceLinked="0"/>
          <c:txPr>
            <a:bodyPr/>
            <a:lstStyle/>
            <a:p>
              <a:pPr>
                <a:defRPr b="0" i="0" strike="noStrike" sz="1200" u="none">
                  <a:solidFill>
                    <a:srgbClr val="1A21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A2130"/>
                </a:solidFill>
                <a:latin typeface="+mn-lt"/>
              </a:defRPr>
            </a:pPr>
            <a:endParaRPr lang="en-US"/>
          </a:p>
        </c:txPr>
        <c:crossAx val="2094734552"/>
        <c:crosses val="autoZero"/>
        <c:auto val="1"/>
        <c:lblAlgn val="ctr"/>
        <c:noMultiLvlLbl val="1"/>
      </c:catAx>
      <c:valAx>
        <c:axId val="2094734552"/>
        <c:scaling>
          <c:orientation val="minMax"/>
          <c:max val="9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this deck: show what changed in the H-number map, how it is built, what is verified, and what needs decisions or information from cemetery staff. All screenshots are taken from the previous and current versions of the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window size, full cemetery. The old overall map had section titles, the mausoleum legend and descriptive notes baked in. They are text in the CAD source, so the new map simply does not draw them. The original text can be switched on from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map area and zoom in both versions (about H001900 to H002270). In the previous version the old lot labels were drawn as tiny shapes and could not be removed from the PDF, so the new numbers were drawn on top of them. The new build never draws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area and zoom (the curved rows west of the main grid, H002891 to H003082). The new placement measures each number and fits it inside the lot outline with a margin. It was checked automatically: none of 773,021 number pixels touch a lot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counts come from the current build (pipeline2/classify.py output). Verified means a drawn outline, a decoded H-number and a section confirmed either by an independent earlier reading (2,709) or by surrounding lots (394). The 218 unresolved visible lots and the 68 decoder lots with no position are listed in unresolved_locations.csv. No grave counts or burial records have been entered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1 to 3 existed because the original PDF stores numbers as vector strokes. That is why the first version needed shape recognition and page alignment, and why its numbers could not be separated from the old labels. While rebuilding, the CAD file in the Ground Maps folder turned out to keep numbers as text and lot outlines as lines. That removed the need for recognition and covering-up. The older recognition results are still used as an independent check of which legacy section a label belongs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in the repository under h-number-map/pipeline2. Running run_all.py rebuilds the map, PDFs and lists from the source drawing in about six minutes. The first version also used template matching for digit recognition (glyphs.py, recog.py); that code is kept in h-number-map/pipeline for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screenshots are cropped from the current site opened in a browser. The panel shows the H-number, the legacy reference, how the match was confirmed, and grave fields that are honestly empty. Shared records show as unavailable in these screenshots because they were taken outside the hosted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clear about status. The panel screenshots come from a browser test with a stand-in sign-in and an empty database, so they show real screens but not a live editor session. Permission is enforced by the shared database rule (anyone who can open the page reads; only people with edit access write); a normal-user write was refused when checked. No burial data has been entered. Excel export existed in the previous site and has not been rebuilt; CSV replaces it for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Items 1 and 2 address the 286 unresolved entries (218 visible lots and 68 decoder lots with no position). They need a person who knows the original numbering, not more software. Item 3 decides whether the site can ever show a grave count. Item 4 is independent of the map, so it can start whenever the spreadsheet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C2340"/>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566274"/>
                </a:solidFill>
                <a:latin typeface="Calibri" pitchFamily="34" charset="0"/>
                <a:ea typeface="Calibri" pitchFamily="34" charset="-122"/>
                <a:cs typeface="Calibri" pitchFamily="34" charset="-120"/>
              </a:rPr>
              <a:t>Cedar Grove Cemetery  |  H-Number Atlas progress report</a:t>
            </a:r>
            <a:endParaRPr lang="en-US" sz="10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274"/>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274"/>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554480"/>
            <a:ext cx="5852160" cy="155448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Cedar Grove H-Number Atlas</a:t>
            </a:r>
            <a:endParaRPr lang="en-US" sz="4400" dirty="0"/>
          </a:p>
        </p:txBody>
      </p:sp>
      <p:sp>
        <p:nvSpPr>
          <p:cNvPr id="3" name="Text 1"/>
          <p:cNvSpPr txBox="1"/>
          <p:nvPr/>
        </p:nvSpPr>
        <p:spPr>
          <a:xfrm>
            <a:off x="640080" y="3246120"/>
            <a:ext cx="5394960" cy="1097280"/>
          </a:xfrm>
          <a:prstGeom prst="rect">
            <a:avLst/>
          </a:prstGeom>
          <a:noFill/>
          <a:ln/>
        </p:spPr>
        <p:txBody>
          <a:bodyPr wrap="square" lIns="0" tIns="0" rIns="0" bIns="0" rtlCol="0" anchor="t"/>
          <a:lstStyle/>
          <a:p>
            <a:pPr indent="0" marL="0">
              <a:buNone/>
            </a:pPr>
            <a:r>
              <a:rPr lang="en-US" sz="2000" dirty="0">
                <a:solidFill>
                  <a:srgbClr val="CADCFC"/>
                </a:solidFill>
                <a:latin typeface="Calibri" pitchFamily="34" charset="0"/>
                <a:ea typeface="Calibri" pitchFamily="34" charset="-122"/>
                <a:cs typeface="Calibri" pitchFamily="34" charset="-120"/>
              </a:rPr>
              <a:t>Progress report: the map, the numbers behind it, and what comes next</a:t>
            </a:r>
            <a:endParaRPr lang="en-US" sz="2000" dirty="0"/>
          </a:p>
        </p:txBody>
      </p:sp>
      <p:sp>
        <p:nvSpPr>
          <p:cNvPr id="4" name="Text 2"/>
          <p:cNvSpPr txBox="1"/>
          <p:nvPr/>
        </p:nvSpPr>
        <p:spPr>
          <a:xfrm>
            <a:off x="640080" y="5943600"/>
            <a:ext cx="5852160"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University of Notre Dame, Cedar Grove Cemetery  |  October 2026</a:t>
            </a:r>
            <a:endParaRPr lang="en-US" sz="1400" dirty="0"/>
          </a:p>
        </p:txBody>
      </p:sp>
      <p:pic>
        <p:nvPicPr>
          <p:cNvPr id="5" name="Hero screenshot" descr="Current map: curved lots with centered H-numbers">    </p:cNvPr>
          <p:cNvPicPr>
            <a:picLocks noChangeAspect="1"/>
          </p:cNvPicPr>
          <p:nvPr/>
        </p:nvPicPr>
        <p:blipFill>
          <a:blip r:embed="rId1"/>
          <a:stretch>
            <a:fillRect/>
          </a:stretch>
        </p:blipFill>
        <p:spPr>
          <a:xfrm>
            <a:off x="6537960" y="1188720"/>
            <a:ext cx="5029200" cy="3218688"/>
          </a:xfrm>
          <a:prstGeom prst="rect">
            <a:avLst/>
          </a:prstGeom>
        </p:spPr>
      </p:pic>
      <p:sp>
        <p:nvSpPr>
          <p:cNvPr id="6" name="Text 3"/>
          <p:cNvSpPr txBox="1"/>
          <p:nvPr/>
        </p:nvSpPr>
        <p:spPr>
          <a:xfrm>
            <a:off x="6537960" y="4480560"/>
            <a:ext cx="5029200" cy="27432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Current map, curved lot rows (H002891 to H003082)</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C2340"/>
                </a:solidFill>
                <a:latin typeface="Cambria" pitchFamily="34" charset="0"/>
                <a:ea typeface="Cambria" pitchFamily="34" charset="-122"/>
                <a:cs typeface="Cambria" pitchFamily="34" charset="-120"/>
              </a:rPr>
              <a:t>The whole map is cleaner and easier to read</a:t>
            </a:r>
            <a:endParaRPr lang="en-US" sz="3000" dirty="0"/>
          </a:p>
        </p:txBody>
      </p:sp>
      <p:sp>
        <p:nvSpPr>
          <p:cNvPr id="3" name="Chip BEFORE: previous site"/>
          <p:cNvSpPr txBox="1"/>
          <p:nvPr/>
        </p:nvSpPr>
        <p:spPr>
          <a:xfrm>
            <a:off x="548640" y="1188720"/>
            <a:ext cx="2103120" cy="292608"/>
          </a:xfrm>
          <a:prstGeom prst="rect">
            <a:avLst/>
          </a:prstGeom>
          <a:solidFill>
            <a:srgbClr val="566274"/>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BEFORE: previous site</a:t>
            </a:r>
            <a:endParaRPr lang="en-US" sz="1200" dirty="0"/>
          </a:p>
        </p:txBody>
      </p:sp>
      <p:sp>
        <p:nvSpPr>
          <p:cNvPr id="4" name="Chip NOW: current site"/>
          <p:cNvSpPr txBox="1"/>
          <p:nvPr/>
        </p:nvSpPr>
        <p:spPr>
          <a:xfrm>
            <a:off x="6153912" y="1188720"/>
            <a:ext cx="1828800" cy="292608"/>
          </a:xfrm>
          <a:prstGeom prst="rect">
            <a:avLst/>
          </a:prstGeom>
          <a:solidFill>
            <a:srgbClr val="0C2340"/>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NOW: current site</a:t>
            </a:r>
            <a:endParaRPr lang="en-US" sz="1200" dirty="0"/>
          </a:p>
        </p:txBody>
      </p:sp>
      <p:pic>
        <p:nvPicPr>
          <p:cNvPr id="5" name="Before overview" descr="Previous site, full cemetery view">    </p:cNvPr>
          <p:cNvPicPr>
            <a:picLocks noChangeAspect="1"/>
          </p:cNvPicPr>
          <p:nvPr/>
        </p:nvPicPr>
        <p:blipFill>
          <a:blip r:embed="rId1"/>
          <a:stretch>
            <a:fillRect/>
          </a:stretch>
        </p:blipFill>
        <p:spPr>
          <a:xfrm>
            <a:off x="548640" y="1554480"/>
            <a:ext cx="5486400" cy="3276600"/>
          </a:xfrm>
          <a:prstGeom prst="rect">
            <a:avLst/>
          </a:prstGeom>
          <a:effectLst>
            <a:outerShdw sx="100000" sy="100000" kx="0" ky="0" algn="bl" rotWithShape="0" blurRad="101600" dist="25400" dir="5400000">
              <a:srgbClr val="000000">
                <a:alpha val="18000"/>
              </a:srgbClr>
            </a:outerShdw>
          </a:effectLst>
        </p:spPr>
      </p:pic>
      <p:pic>
        <p:nvPicPr>
          <p:cNvPr id="6" name="Now overview" descr="Current site, full cemetery view">    </p:cNvPr>
          <p:cNvPicPr>
            <a:picLocks noChangeAspect="1"/>
          </p:cNvPicPr>
          <p:nvPr/>
        </p:nvPicPr>
        <p:blipFill>
          <a:blip r:embed="rId2"/>
          <a:stretch>
            <a:fillRect/>
          </a:stretch>
        </p:blipFill>
        <p:spPr>
          <a:xfrm>
            <a:off x="6153912" y="1554480"/>
            <a:ext cx="5486400" cy="3276600"/>
          </a:xfrm>
          <a:prstGeom prst="rect">
            <a:avLst/>
          </a:prstGeom>
          <a:effectLst>
            <a:outerShdw sx="100000" sy="100000" kx="0" ky="0" algn="bl" rotWithShape="0" blurRad="101600" dist="25400" dir="5400000">
              <a:srgbClr val="000000">
                <a:alpha val="18000"/>
              </a:srgbClr>
            </a:outerShdw>
          </a:effectLst>
        </p:spPr>
      </p:pic>
      <p:sp>
        <p:nvSpPr>
          <p:cNvPr id="7" name="Callout 1"/>
          <p:cNvSpPr/>
          <p:nvPr/>
        </p:nvSpPr>
        <p:spPr>
          <a:xfrm>
            <a:off x="3250692" y="2705862"/>
            <a:ext cx="310896" cy="310896"/>
          </a:xfrm>
          <a:prstGeom prst="ellipse">
            <a:avLst/>
          </a:prstGeom>
          <a:solidFill>
            <a:srgbClr val="B8892F"/>
          </a:solidFill>
          <a:ln w="19050">
            <a:solidFill>
              <a:srgbClr val="FFFFFF"/>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Callout 2"/>
          <p:cNvSpPr/>
          <p:nvPr/>
        </p:nvSpPr>
        <p:spPr>
          <a:xfrm>
            <a:off x="1993392" y="4066032"/>
            <a:ext cx="310896" cy="310896"/>
          </a:xfrm>
          <a:prstGeom prst="ellipse">
            <a:avLst/>
          </a:prstGeom>
          <a:solidFill>
            <a:srgbClr val="B8892F"/>
          </a:solidFill>
          <a:ln w="19050">
            <a:solidFill>
              <a:srgbClr val="FFFFFF"/>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Callout 3"/>
          <p:cNvSpPr/>
          <p:nvPr/>
        </p:nvSpPr>
        <p:spPr>
          <a:xfrm>
            <a:off x="9808464" y="2732532"/>
            <a:ext cx="310896" cy="310896"/>
          </a:xfrm>
          <a:prstGeom prst="ellipse">
            <a:avLst/>
          </a:prstGeom>
          <a:solidFill>
            <a:srgbClr val="B8892F"/>
          </a:solidFill>
          <a:ln w="19050">
            <a:solidFill>
              <a:srgbClr val="FFFFFF"/>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0" name="Callout 4"/>
          <p:cNvSpPr/>
          <p:nvPr/>
        </p:nvSpPr>
        <p:spPr>
          <a:xfrm>
            <a:off x="7141464" y="2397252"/>
            <a:ext cx="310896" cy="310896"/>
          </a:xfrm>
          <a:prstGeom prst="ellipse">
            <a:avLst/>
          </a:prstGeom>
          <a:solidFill>
            <a:srgbClr val="B8892F"/>
          </a:solidFill>
          <a:ln w="19050">
            <a:solidFill>
              <a:srgbClr val="FFFFFF"/>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1" name="Text 7"/>
          <p:cNvSpPr/>
          <p:nvPr/>
        </p:nvSpPr>
        <p:spPr>
          <a:xfrm>
            <a:off x="548640" y="4928616"/>
            <a:ext cx="292608" cy="292608"/>
          </a:xfrm>
          <a:prstGeom prst="ellipse">
            <a:avLst/>
          </a:prstGeom>
          <a:solidFill>
            <a:srgbClr val="B8892F"/>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2" name="Text 8"/>
          <p:cNvSpPr txBox="1"/>
          <p:nvPr/>
        </p:nvSpPr>
        <p:spPr>
          <a:xfrm>
            <a:off x="960120" y="4892040"/>
            <a:ext cx="5074920" cy="457200"/>
          </a:xfrm>
          <a:prstGeom prst="rect">
            <a:avLst/>
          </a:prstGeom>
          <a:noFill/>
          <a:ln/>
        </p:spPr>
        <p:txBody>
          <a:bodyPr wrap="square" lIns="0" tIns="0" rIns="0" bIns="0" rtlCol="0" anchor="ctr"/>
          <a:lstStyle/>
          <a:p>
            <a:pPr indent="0" marL="0">
              <a:buNone/>
            </a:pPr>
            <a:r>
              <a:rPr lang="en-US" sz="1400" dirty="0">
                <a:solidFill>
                  <a:srgbClr val="1A2130"/>
                </a:solidFill>
                <a:latin typeface="Calibri" pitchFamily="34" charset="0"/>
                <a:ea typeface="Calibri" pitchFamily="34" charset="-122"/>
                <a:cs typeface="Calibri" pitchFamily="34" charset="-120"/>
              </a:rPr>
              <a:t>Dark "SECTION" title blocks covered lots. They are gone.</a:t>
            </a:r>
            <a:endParaRPr lang="en-US" sz="1400" dirty="0"/>
          </a:p>
        </p:txBody>
      </p:sp>
      <p:sp>
        <p:nvSpPr>
          <p:cNvPr id="13" name="Text 9"/>
          <p:cNvSpPr/>
          <p:nvPr/>
        </p:nvSpPr>
        <p:spPr>
          <a:xfrm>
            <a:off x="548640" y="5458968"/>
            <a:ext cx="292608" cy="292608"/>
          </a:xfrm>
          <a:prstGeom prst="ellipse">
            <a:avLst/>
          </a:prstGeom>
          <a:solidFill>
            <a:srgbClr val="B8892F"/>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0"/>
          <p:cNvSpPr txBox="1"/>
          <p:nvPr/>
        </p:nvSpPr>
        <p:spPr>
          <a:xfrm>
            <a:off x="960120" y="5422392"/>
            <a:ext cx="5074920" cy="457200"/>
          </a:xfrm>
          <a:prstGeom prst="rect">
            <a:avLst/>
          </a:prstGeom>
          <a:noFill/>
          <a:ln/>
        </p:spPr>
        <p:txBody>
          <a:bodyPr wrap="square" lIns="0" tIns="0" rIns="0" bIns="0" rtlCol="0" anchor="ctr"/>
          <a:lstStyle/>
          <a:p>
            <a:pPr indent="0" marL="0">
              <a:buNone/>
            </a:pPr>
            <a:r>
              <a:rPr lang="en-US" sz="1400" dirty="0">
                <a:solidFill>
                  <a:srgbClr val="1A2130"/>
                </a:solidFill>
                <a:latin typeface="Calibri" pitchFamily="34" charset="0"/>
                <a:ea typeface="Calibri" pitchFamily="34" charset="-122"/>
                <a:cs typeface="Calibri" pitchFamily="34" charset="-120"/>
              </a:rPr>
              <a:t>Legend, parking and office notes are gone from the default map.</a:t>
            </a:r>
            <a:endParaRPr lang="en-US" sz="1400" dirty="0"/>
          </a:p>
        </p:txBody>
      </p:sp>
      <p:sp>
        <p:nvSpPr>
          <p:cNvPr id="15" name="Text 11"/>
          <p:cNvSpPr/>
          <p:nvPr/>
        </p:nvSpPr>
        <p:spPr>
          <a:xfrm>
            <a:off x="6153912" y="4928616"/>
            <a:ext cx="292608" cy="292608"/>
          </a:xfrm>
          <a:prstGeom prst="ellipse">
            <a:avLst/>
          </a:prstGeom>
          <a:solidFill>
            <a:srgbClr val="B8892F"/>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2"/>
          <p:cNvSpPr txBox="1"/>
          <p:nvPr/>
        </p:nvSpPr>
        <p:spPr>
          <a:xfrm>
            <a:off x="6565392" y="4892040"/>
            <a:ext cx="5074920" cy="457200"/>
          </a:xfrm>
          <a:prstGeom prst="rect">
            <a:avLst/>
          </a:prstGeom>
          <a:noFill/>
          <a:ln/>
        </p:spPr>
        <p:txBody>
          <a:bodyPr wrap="square" lIns="0" tIns="0" rIns="0" bIns="0" rtlCol="0" anchor="ctr"/>
          <a:lstStyle/>
          <a:p>
            <a:pPr indent="0" marL="0">
              <a:buNone/>
            </a:pPr>
            <a:r>
              <a:rPr lang="en-US" sz="1400" dirty="0">
                <a:solidFill>
                  <a:srgbClr val="1A2130"/>
                </a:solidFill>
                <a:latin typeface="Calibri" pitchFamily="34" charset="0"/>
                <a:ea typeface="Calibri" pitchFamily="34" charset="-122"/>
                <a:cs typeface="Calibri" pitchFamily="34" charset="-120"/>
              </a:rPr>
              <a:t>Roads, buildings and every lot outline are kept, in lighter lines.</a:t>
            </a:r>
            <a:endParaRPr lang="en-US" sz="1400" dirty="0"/>
          </a:p>
        </p:txBody>
      </p:sp>
      <p:sp>
        <p:nvSpPr>
          <p:cNvPr id="17" name="Text 13"/>
          <p:cNvSpPr/>
          <p:nvPr/>
        </p:nvSpPr>
        <p:spPr>
          <a:xfrm>
            <a:off x="6153912" y="5458968"/>
            <a:ext cx="292608" cy="292608"/>
          </a:xfrm>
          <a:prstGeom prst="ellipse">
            <a:avLst/>
          </a:prstGeom>
          <a:solidFill>
            <a:srgbClr val="B8892F"/>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Text 14"/>
          <p:cNvSpPr txBox="1"/>
          <p:nvPr/>
        </p:nvSpPr>
        <p:spPr>
          <a:xfrm>
            <a:off x="6565392" y="5422392"/>
            <a:ext cx="5074920" cy="457200"/>
          </a:xfrm>
          <a:prstGeom prst="rect">
            <a:avLst/>
          </a:prstGeom>
          <a:noFill/>
          <a:ln/>
        </p:spPr>
        <p:txBody>
          <a:bodyPr wrap="square" lIns="0" tIns="0" rIns="0" bIns="0" rtlCol="0" anchor="ctr"/>
          <a:lstStyle/>
          <a:p>
            <a:pPr indent="0" marL="0">
              <a:buNone/>
            </a:pPr>
            <a:r>
              <a:rPr lang="en-US" sz="1400" dirty="0">
                <a:solidFill>
                  <a:srgbClr val="1A2130"/>
                </a:solidFill>
                <a:latin typeface="Calibri" pitchFamily="34" charset="0"/>
                <a:ea typeface="Calibri" pitchFamily="34" charset="-122"/>
                <a:cs typeface="Calibri" pitchFamily="34" charset="-120"/>
              </a:rPr>
              <a:t>Search, areas with H-number ranges, and a list of lots to review.</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274"/>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C2340"/>
                </a:solidFill>
                <a:latin typeface="Cambria" pitchFamily="34" charset="0"/>
                <a:ea typeface="Cambria" pitchFamily="34" charset="-122"/>
                <a:cs typeface="Cambria" pitchFamily="34" charset="-120"/>
              </a:rPr>
              <a:t>Each lot shows one number, centered inside it</a:t>
            </a:r>
            <a:endParaRPr lang="en-US" sz="3000" dirty="0"/>
          </a:p>
        </p:txBody>
      </p:sp>
      <p:sp>
        <p:nvSpPr>
          <p:cNvPr id="3" name="Chip BEFORE"/>
          <p:cNvSpPr txBox="1"/>
          <p:nvPr/>
        </p:nvSpPr>
        <p:spPr>
          <a:xfrm>
            <a:off x="548640" y="1188720"/>
            <a:ext cx="1188720" cy="292608"/>
          </a:xfrm>
          <a:prstGeom prst="rect">
            <a:avLst/>
          </a:prstGeom>
          <a:solidFill>
            <a:srgbClr val="566274"/>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BEFORE</a:t>
            </a:r>
            <a:endParaRPr lang="en-US" sz="1200" dirty="0"/>
          </a:p>
        </p:txBody>
      </p:sp>
      <p:sp>
        <p:nvSpPr>
          <p:cNvPr id="4" name="Chip NOW"/>
          <p:cNvSpPr txBox="1"/>
          <p:nvPr/>
        </p:nvSpPr>
        <p:spPr>
          <a:xfrm>
            <a:off x="6153912" y="1188720"/>
            <a:ext cx="914400" cy="292608"/>
          </a:xfrm>
          <a:prstGeom prst="rect">
            <a:avLst/>
          </a:prstGeom>
          <a:solidFill>
            <a:srgbClr val="0C2340"/>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NOW</a:t>
            </a:r>
            <a:endParaRPr lang="en-US" sz="1200" dirty="0"/>
          </a:p>
        </p:txBody>
      </p:sp>
      <p:sp>
        <p:nvSpPr>
          <p:cNvPr id="5" name="Text 3"/>
          <p:cNvSpPr txBox="1"/>
          <p:nvPr/>
        </p:nvSpPr>
        <p:spPr>
          <a:xfrm>
            <a:off x="1874520" y="1188720"/>
            <a:ext cx="4114800" cy="292608"/>
          </a:xfrm>
          <a:prstGeom prst="rect">
            <a:avLst/>
          </a:prstGeom>
          <a:noFill/>
          <a:ln/>
        </p:spPr>
        <p:txBody>
          <a:bodyPr wrap="square" lIns="0" tIns="0" rIns="0" bIns="0" rtlCol="0" anchor="ctr"/>
          <a:lstStyle/>
          <a:p>
            <a:pPr indent="0" marL="0">
              <a:buNone/>
            </a:pPr>
            <a:r>
              <a:rPr lang="en-US" sz="1200" dirty="0">
                <a:solidFill>
                  <a:srgbClr val="566274"/>
                </a:solidFill>
                <a:latin typeface="Calibri" pitchFamily="34" charset="0"/>
                <a:ea typeface="Calibri" pitchFamily="34" charset="-122"/>
                <a:cs typeface="Calibri" pitchFamily="34" charset="-120"/>
              </a:rPr>
              <a:t>Same area and zoom, east side of the main grid</a:t>
            </a:r>
            <a:endParaRPr lang="en-US" sz="1200" dirty="0"/>
          </a:p>
        </p:txBody>
      </p:sp>
      <p:pic>
        <p:nvPicPr>
          <p:cNvPr id="6" name="Before close-up" descr="Previous site, close-up">    </p:cNvPr>
          <p:cNvPicPr>
            <a:picLocks noChangeAspect="1"/>
          </p:cNvPicPr>
          <p:nvPr/>
        </p:nvPicPr>
        <p:blipFill>
          <a:blip r:embed="rId1"/>
          <a:stretch>
            <a:fillRect/>
          </a:stretch>
        </p:blipFill>
        <p:spPr>
          <a:xfrm>
            <a:off x="548640" y="1554480"/>
            <a:ext cx="5486400" cy="3511296"/>
          </a:xfrm>
          <a:prstGeom prst="rect">
            <a:avLst/>
          </a:prstGeom>
          <a:effectLst>
            <a:outerShdw sx="100000" sy="100000" kx="0" ky="0" algn="bl" rotWithShape="0" blurRad="101600" dist="25400" dir="5400000">
              <a:srgbClr val="000000">
                <a:alpha val="18000"/>
              </a:srgbClr>
            </a:outerShdw>
          </a:effectLst>
        </p:spPr>
      </p:pic>
      <p:pic>
        <p:nvPicPr>
          <p:cNvPr id="7" name="Now close-up" descr="Current site, same area and zoom">    </p:cNvPr>
          <p:cNvPicPr>
            <a:picLocks noChangeAspect="1"/>
          </p:cNvPicPr>
          <p:nvPr/>
        </p:nvPicPr>
        <p:blipFill>
          <a:blip r:embed="rId2"/>
          <a:stretch>
            <a:fillRect/>
          </a:stretch>
        </p:blipFill>
        <p:spPr>
          <a:xfrm>
            <a:off x="6153912" y="1554480"/>
            <a:ext cx="5486400" cy="3511296"/>
          </a:xfrm>
          <a:prstGeom prst="rect">
            <a:avLst/>
          </a:prstGeom>
          <a:effectLst>
            <a:outerShdw sx="100000" sy="100000" kx="0" ky="0" algn="bl" rotWithShape="0" blurRad="101600" dist="25400" dir="5400000">
              <a:srgbClr val="000000">
                <a:alpha val="18000"/>
              </a:srgbClr>
            </a:outerShdw>
          </a:effectLst>
        </p:spPr>
      </p:pic>
      <p:sp>
        <p:nvSpPr>
          <p:cNvPr id="8" name="Callout 1"/>
          <p:cNvSpPr/>
          <p:nvPr/>
        </p:nvSpPr>
        <p:spPr>
          <a:xfrm>
            <a:off x="2093976" y="2167128"/>
            <a:ext cx="310896" cy="310896"/>
          </a:xfrm>
          <a:prstGeom prst="ellipse">
            <a:avLst/>
          </a:prstGeom>
          <a:solidFill>
            <a:srgbClr val="B8892F"/>
          </a:solidFill>
          <a:ln w="19050">
            <a:solidFill>
              <a:srgbClr val="FFFFFF"/>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Callout 2"/>
          <p:cNvSpPr/>
          <p:nvPr/>
        </p:nvSpPr>
        <p:spPr>
          <a:xfrm>
            <a:off x="2412187" y="3209544"/>
            <a:ext cx="310896" cy="310896"/>
          </a:xfrm>
          <a:prstGeom prst="ellipse">
            <a:avLst/>
          </a:prstGeom>
          <a:solidFill>
            <a:srgbClr val="B8892F"/>
          </a:solidFill>
          <a:ln w="19050">
            <a:solidFill>
              <a:srgbClr val="FFFFFF"/>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Callout 3"/>
          <p:cNvSpPr/>
          <p:nvPr/>
        </p:nvSpPr>
        <p:spPr>
          <a:xfrm>
            <a:off x="9153144" y="3264408"/>
            <a:ext cx="310896" cy="310896"/>
          </a:xfrm>
          <a:prstGeom prst="ellipse">
            <a:avLst/>
          </a:prstGeom>
          <a:solidFill>
            <a:srgbClr val="B8892F"/>
          </a:solidFill>
          <a:ln w="19050">
            <a:solidFill>
              <a:srgbClr val="FFFFFF"/>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1" name="Callout 4"/>
          <p:cNvSpPr/>
          <p:nvPr/>
        </p:nvSpPr>
        <p:spPr>
          <a:xfrm>
            <a:off x="7874813" y="2578608"/>
            <a:ext cx="310896" cy="310896"/>
          </a:xfrm>
          <a:prstGeom prst="ellipse">
            <a:avLst/>
          </a:prstGeom>
          <a:solidFill>
            <a:srgbClr val="B8892F"/>
          </a:solidFill>
          <a:ln w="19050">
            <a:solidFill>
              <a:srgbClr val="FFFFFF"/>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2" name="Text 8"/>
          <p:cNvSpPr/>
          <p:nvPr/>
        </p:nvSpPr>
        <p:spPr>
          <a:xfrm>
            <a:off x="548640" y="5202936"/>
            <a:ext cx="292608" cy="292608"/>
          </a:xfrm>
          <a:prstGeom prst="ellipse">
            <a:avLst/>
          </a:prstGeom>
          <a:solidFill>
            <a:srgbClr val="B8892F"/>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9"/>
          <p:cNvSpPr txBox="1"/>
          <p:nvPr/>
        </p:nvSpPr>
        <p:spPr>
          <a:xfrm>
            <a:off x="960120" y="5166360"/>
            <a:ext cx="5074920" cy="457200"/>
          </a:xfrm>
          <a:prstGeom prst="rect">
            <a:avLst/>
          </a:prstGeom>
          <a:noFill/>
          <a:ln/>
        </p:spPr>
        <p:txBody>
          <a:bodyPr wrap="square" lIns="0" tIns="0" rIns="0" bIns="0" rtlCol="0" anchor="ctr"/>
          <a:lstStyle/>
          <a:p>
            <a:pPr indent="0" marL="0">
              <a:buNone/>
            </a:pPr>
            <a:r>
              <a:rPr lang="en-US" sz="1400" dirty="0">
                <a:solidFill>
                  <a:srgbClr val="1A2130"/>
                </a:solidFill>
                <a:latin typeface="Calibri" pitchFamily="34" charset="0"/>
                <a:ea typeface="Calibri" pitchFamily="34" charset="-122"/>
                <a:cs typeface="Calibri" pitchFamily="34" charset="-120"/>
              </a:rPr>
              <a:t>Old numbers still show underneath the new ones.</a:t>
            </a:r>
            <a:endParaRPr lang="en-US" sz="1400" dirty="0"/>
          </a:p>
        </p:txBody>
      </p:sp>
      <p:sp>
        <p:nvSpPr>
          <p:cNvPr id="14" name="Text 10"/>
          <p:cNvSpPr/>
          <p:nvPr/>
        </p:nvSpPr>
        <p:spPr>
          <a:xfrm>
            <a:off x="548640" y="5733288"/>
            <a:ext cx="292608" cy="292608"/>
          </a:xfrm>
          <a:prstGeom prst="ellipse">
            <a:avLst/>
          </a:prstGeom>
          <a:solidFill>
            <a:srgbClr val="B8892F"/>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1"/>
          <p:cNvSpPr txBox="1"/>
          <p:nvPr/>
        </p:nvSpPr>
        <p:spPr>
          <a:xfrm>
            <a:off x="960120" y="5696712"/>
            <a:ext cx="5074920" cy="457200"/>
          </a:xfrm>
          <a:prstGeom prst="rect">
            <a:avLst/>
          </a:prstGeom>
          <a:noFill/>
          <a:ln/>
        </p:spPr>
        <p:txBody>
          <a:bodyPr wrap="square" lIns="0" tIns="0" rIns="0" bIns="0" rtlCol="0" anchor="ctr"/>
          <a:lstStyle/>
          <a:p>
            <a:pPr indent="0" marL="0">
              <a:buNone/>
            </a:pPr>
            <a:r>
              <a:rPr lang="en-US" sz="1400" dirty="0">
                <a:solidFill>
                  <a:srgbClr val="1A2130"/>
                </a:solidFill>
                <a:latin typeface="Calibri" pitchFamily="34" charset="0"/>
                <a:ea typeface="Calibri" pitchFamily="34" charset="-122"/>
                <a:cs typeface="Calibri" pitchFamily="34" charset="-120"/>
              </a:rPr>
              <a:t>Heavy outlines crowd the numbers against the lot ends.</a:t>
            </a:r>
            <a:endParaRPr lang="en-US" sz="1400" dirty="0"/>
          </a:p>
        </p:txBody>
      </p:sp>
      <p:sp>
        <p:nvSpPr>
          <p:cNvPr id="16" name="Text 12"/>
          <p:cNvSpPr/>
          <p:nvPr/>
        </p:nvSpPr>
        <p:spPr>
          <a:xfrm>
            <a:off x="6153912" y="5202936"/>
            <a:ext cx="292608" cy="292608"/>
          </a:xfrm>
          <a:prstGeom prst="ellipse">
            <a:avLst/>
          </a:prstGeom>
          <a:solidFill>
            <a:srgbClr val="B8892F"/>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3"/>
          <p:cNvSpPr txBox="1"/>
          <p:nvPr/>
        </p:nvSpPr>
        <p:spPr>
          <a:xfrm>
            <a:off x="6565392" y="5166360"/>
            <a:ext cx="5074920" cy="457200"/>
          </a:xfrm>
          <a:prstGeom prst="rect">
            <a:avLst/>
          </a:prstGeom>
          <a:noFill/>
          <a:ln/>
        </p:spPr>
        <p:txBody>
          <a:bodyPr wrap="square" lIns="0" tIns="0" rIns="0" bIns="0" rtlCol="0" anchor="ctr"/>
          <a:lstStyle/>
          <a:p>
            <a:pPr indent="0" marL="0">
              <a:buNone/>
            </a:pPr>
            <a:r>
              <a:rPr lang="en-US" sz="1400" dirty="0">
                <a:solidFill>
                  <a:srgbClr val="1A2130"/>
                </a:solidFill>
                <a:latin typeface="Calibri" pitchFamily="34" charset="0"/>
                <a:ea typeface="Calibri" pitchFamily="34" charset="-122"/>
                <a:cs typeface="Calibri" pitchFamily="34" charset="-120"/>
              </a:rPr>
              <a:t>One H-number per lot, centered, with clear space around it.</a:t>
            </a:r>
            <a:endParaRPr lang="en-US" sz="1400" dirty="0"/>
          </a:p>
        </p:txBody>
      </p:sp>
      <p:sp>
        <p:nvSpPr>
          <p:cNvPr id="18" name="Text 14"/>
          <p:cNvSpPr/>
          <p:nvPr/>
        </p:nvSpPr>
        <p:spPr>
          <a:xfrm>
            <a:off x="6153912" y="5733288"/>
            <a:ext cx="292608" cy="292608"/>
          </a:xfrm>
          <a:prstGeom prst="ellipse">
            <a:avLst/>
          </a:prstGeom>
          <a:solidFill>
            <a:srgbClr val="B8892F"/>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9" name="Text 15"/>
          <p:cNvSpPr txBox="1"/>
          <p:nvPr/>
        </p:nvSpPr>
        <p:spPr>
          <a:xfrm>
            <a:off x="6565392" y="5696712"/>
            <a:ext cx="5074920" cy="457200"/>
          </a:xfrm>
          <a:prstGeom prst="rect">
            <a:avLst/>
          </a:prstGeom>
          <a:noFill/>
          <a:ln/>
        </p:spPr>
        <p:txBody>
          <a:bodyPr wrap="square" lIns="0" tIns="0" rIns="0" bIns="0" rtlCol="0" anchor="ctr"/>
          <a:lstStyle/>
          <a:p>
            <a:pPr indent="0" marL="0">
              <a:buNone/>
            </a:pPr>
            <a:r>
              <a:rPr lang="en-US" sz="1400" dirty="0">
                <a:solidFill>
                  <a:srgbClr val="1A2130"/>
                </a:solidFill>
                <a:latin typeface="Calibri" pitchFamily="34" charset="0"/>
                <a:ea typeface="Calibri" pitchFamily="34" charset="-122"/>
                <a:cs typeface="Calibri" pitchFamily="34" charset="-120"/>
              </a:rPr>
              <a:t>Thin outlines; no old numbers anywhere.</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274"/>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C2340"/>
                </a:solidFill>
                <a:latin typeface="Cambria" pitchFamily="34" charset="0"/>
                <a:ea typeface="Cambria" pitchFamily="34" charset="-122"/>
                <a:cs typeface="Cambria" pitchFamily="34" charset="-120"/>
              </a:rPr>
              <a:t>Curved and angled lots keep their numbers inside</a:t>
            </a:r>
            <a:endParaRPr lang="en-US" sz="3000" dirty="0"/>
          </a:p>
        </p:txBody>
      </p:sp>
      <p:sp>
        <p:nvSpPr>
          <p:cNvPr id="3" name="Chip BEFORE"/>
          <p:cNvSpPr txBox="1"/>
          <p:nvPr/>
        </p:nvSpPr>
        <p:spPr>
          <a:xfrm>
            <a:off x="548640" y="1188720"/>
            <a:ext cx="1188720" cy="292608"/>
          </a:xfrm>
          <a:prstGeom prst="rect">
            <a:avLst/>
          </a:prstGeom>
          <a:solidFill>
            <a:srgbClr val="566274"/>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BEFORE</a:t>
            </a:r>
            <a:endParaRPr lang="en-US" sz="1200" dirty="0"/>
          </a:p>
        </p:txBody>
      </p:sp>
      <p:sp>
        <p:nvSpPr>
          <p:cNvPr id="4" name="Chip NOW"/>
          <p:cNvSpPr txBox="1"/>
          <p:nvPr/>
        </p:nvSpPr>
        <p:spPr>
          <a:xfrm>
            <a:off x="6153912" y="1188720"/>
            <a:ext cx="914400" cy="292608"/>
          </a:xfrm>
          <a:prstGeom prst="rect">
            <a:avLst/>
          </a:prstGeom>
          <a:solidFill>
            <a:srgbClr val="0C2340"/>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NOW</a:t>
            </a:r>
            <a:endParaRPr lang="en-US" sz="1200" dirty="0"/>
          </a:p>
        </p:txBody>
      </p:sp>
      <p:sp>
        <p:nvSpPr>
          <p:cNvPr id="5" name="Text 3"/>
          <p:cNvSpPr txBox="1"/>
          <p:nvPr/>
        </p:nvSpPr>
        <p:spPr>
          <a:xfrm>
            <a:off x="1874520" y="1188720"/>
            <a:ext cx="4114800" cy="292608"/>
          </a:xfrm>
          <a:prstGeom prst="rect">
            <a:avLst/>
          </a:prstGeom>
          <a:noFill/>
          <a:ln/>
        </p:spPr>
        <p:txBody>
          <a:bodyPr wrap="square" lIns="0" tIns="0" rIns="0" bIns="0" rtlCol="0" anchor="ctr"/>
          <a:lstStyle/>
          <a:p>
            <a:pPr indent="0" marL="0">
              <a:buNone/>
            </a:pPr>
            <a:r>
              <a:rPr lang="en-US" sz="1200" dirty="0">
                <a:solidFill>
                  <a:srgbClr val="566274"/>
                </a:solidFill>
                <a:latin typeface="Calibri" pitchFamily="34" charset="0"/>
                <a:ea typeface="Calibri" pitchFamily="34" charset="-122"/>
                <a:cs typeface="Calibri" pitchFamily="34" charset="-120"/>
              </a:rPr>
              <a:t>Same area and zoom, curved rows</a:t>
            </a:r>
            <a:endParaRPr lang="en-US" sz="1200" dirty="0"/>
          </a:p>
        </p:txBody>
      </p:sp>
      <p:pic>
        <p:nvPicPr>
          <p:cNvPr id="6" name="Before close-up" descr="Previous site, close-up">    </p:cNvPr>
          <p:cNvPicPr>
            <a:picLocks noChangeAspect="1"/>
          </p:cNvPicPr>
          <p:nvPr/>
        </p:nvPicPr>
        <p:blipFill>
          <a:blip r:embed="rId1"/>
          <a:stretch>
            <a:fillRect/>
          </a:stretch>
        </p:blipFill>
        <p:spPr>
          <a:xfrm>
            <a:off x="548640" y="1554480"/>
            <a:ext cx="5486400" cy="3511296"/>
          </a:xfrm>
          <a:prstGeom prst="rect">
            <a:avLst/>
          </a:prstGeom>
          <a:effectLst>
            <a:outerShdw sx="100000" sy="100000" kx="0" ky="0" algn="bl" rotWithShape="0" blurRad="101600" dist="25400" dir="5400000">
              <a:srgbClr val="000000">
                <a:alpha val="18000"/>
              </a:srgbClr>
            </a:outerShdw>
          </a:effectLst>
        </p:spPr>
      </p:pic>
      <p:pic>
        <p:nvPicPr>
          <p:cNvPr id="7" name="Now close-up" descr="Current site, same area and zoom">    </p:cNvPr>
          <p:cNvPicPr>
            <a:picLocks noChangeAspect="1"/>
          </p:cNvPicPr>
          <p:nvPr/>
        </p:nvPicPr>
        <p:blipFill>
          <a:blip r:embed="rId2"/>
          <a:stretch>
            <a:fillRect/>
          </a:stretch>
        </p:blipFill>
        <p:spPr>
          <a:xfrm>
            <a:off x="6153912" y="1554480"/>
            <a:ext cx="5486400" cy="3511296"/>
          </a:xfrm>
          <a:prstGeom prst="rect">
            <a:avLst/>
          </a:prstGeom>
          <a:effectLst>
            <a:outerShdw sx="100000" sy="100000" kx="0" ky="0" algn="bl" rotWithShape="0" blurRad="101600" dist="25400" dir="5400000">
              <a:srgbClr val="000000">
                <a:alpha val="18000"/>
              </a:srgbClr>
            </a:outerShdw>
          </a:effectLst>
        </p:spPr>
      </p:pic>
      <p:sp>
        <p:nvSpPr>
          <p:cNvPr id="8" name="Callout 1"/>
          <p:cNvSpPr/>
          <p:nvPr/>
        </p:nvSpPr>
        <p:spPr>
          <a:xfrm>
            <a:off x="3849624" y="2496312"/>
            <a:ext cx="310896" cy="310896"/>
          </a:xfrm>
          <a:prstGeom prst="ellipse">
            <a:avLst/>
          </a:prstGeom>
          <a:solidFill>
            <a:srgbClr val="B8892F"/>
          </a:solidFill>
          <a:ln w="19050">
            <a:solidFill>
              <a:srgbClr val="FFFFFF"/>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Callout 2"/>
          <p:cNvSpPr/>
          <p:nvPr/>
        </p:nvSpPr>
        <p:spPr>
          <a:xfrm>
            <a:off x="1517904" y="2688336"/>
            <a:ext cx="310896" cy="310896"/>
          </a:xfrm>
          <a:prstGeom prst="ellipse">
            <a:avLst/>
          </a:prstGeom>
          <a:solidFill>
            <a:srgbClr val="B8892F"/>
          </a:solidFill>
          <a:ln w="19050">
            <a:solidFill>
              <a:srgbClr val="FFFFFF"/>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Callout 3"/>
          <p:cNvSpPr/>
          <p:nvPr/>
        </p:nvSpPr>
        <p:spPr>
          <a:xfrm>
            <a:off x="930859" y="2221992"/>
            <a:ext cx="310896" cy="310896"/>
          </a:xfrm>
          <a:prstGeom prst="ellipse">
            <a:avLst/>
          </a:prstGeom>
          <a:solidFill>
            <a:srgbClr val="B8892F"/>
          </a:solidFill>
          <a:ln w="19050">
            <a:solidFill>
              <a:srgbClr val="FFFFFF"/>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1" name="Callout 4"/>
          <p:cNvSpPr/>
          <p:nvPr/>
        </p:nvSpPr>
        <p:spPr>
          <a:xfrm>
            <a:off x="8741664" y="2221992"/>
            <a:ext cx="310896" cy="310896"/>
          </a:xfrm>
          <a:prstGeom prst="ellipse">
            <a:avLst/>
          </a:prstGeom>
          <a:solidFill>
            <a:srgbClr val="B8892F"/>
          </a:solidFill>
          <a:ln w="19050">
            <a:solidFill>
              <a:srgbClr val="FFFFFF"/>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2" name="Callout 5"/>
          <p:cNvSpPr/>
          <p:nvPr/>
        </p:nvSpPr>
        <p:spPr>
          <a:xfrm>
            <a:off x="6986016" y="3072384"/>
            <a:ext cx="310896" cy="310896"/>
          </a:xfrm>
          <a:prstGeom prst="ellipse">
            <a:avLst/>
          </a:prstGeom>
          <a:solidFill>
            <a:srgbClr val="B8892F"/>
          </a:solidFill>
          <a:ln w="19050">
            <a:solidFill>
              <a:srgbClr val="FFFFFF"/>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3" name="Text 9"/>
          <p:cNvSpPr/>
          <p:nvPr/>
        </p:nvSpPr>
        <p:spPr>
          <a:xfrm>
            <a:off x="548640" y="5202936"/>
            <a:ext cx="292608" cy="292608"/>
          </a:xfrm>
          <a:prstGeom prst="ellipse">
            <a:avLst/>
          </a:prstGeom>
          <a:solidFill>
            <a:srgbClr val="B8892F"/>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4" name="Text 10"/>
          <p:cNvSpPr txBox="1"/>
          <p:nvPr/>
        </p:nvSpPr>
        <p:spPr>
          <a:xfrm>
            <a:off x="960120" y="5166360"/>
            <a:ext cx="5074920" cy="457200"/>
          </a:xfrm>
          <a:prstGeom prst="rect">
            <a:avLst/>
          </a:prstGeom>
          <a:noFill/>
          <a:ln/>
        </p:spPr>
        <p:txBody>
          <a:bodyPr wrap="square" lIns="0" tIns="0" rIns="0" bIns="0" rtlCol="0" anchor="ctr"/>
          <a:lstStyle/>
          <a:p>
            <a:pPr indent="0" marL="0">
              <a:buNone/>
            </a:pPr>
            <a:r>
              <a:rPr lang="en-US" sz="1400" dirty="0">
                <a:solidFill>
                  <a:srgbClr val="1A2130"/>
                </a:solidFill>
                <a:latin typeface="Calibri" pitchFamily="34" charset="0"/>
                <a:ea typeface="Calibri" pitchFamily="34" charset="-122"/>
                <a:cs typeface="Calibri" pitchFamily="34" charset="-120"/>
              </a:rPr>
              <a:t>A "SECTION" block sits over lots 2894 to 2909.</a:t>
            </a:r>
            <a:endParaRPr lang="en-US" sz="1400" dirty="0"/>
          </a:p>
        </p:txBody>
      </p:sp>
      <p:sp>
        <p:nvSpPr>
          <p:cNvPr id="15" name="Text 11"/>
          <p:cNvSpPr/>
          <p:nvPr/>
        </p:nvSpPr>
        <p:spPr>
          <a:xfrm>
            <a:off x="548640" y="5733288"/>
            <a:ext cx="292608" cy="292608"/>
          </a:xfrm>
          <a:prstGeom prst="ellipse">
            <a:avLst/>
          </a:prstGeom>
          <a:solidFill>
            <a:srgbClr val="B8892F"/>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2"/>
          <p:cNvSpPr txBox="1"/>
          <p:nvPr/>
        </p:nvSpPr>
        <p:spPr>
          <a:xfrm>
            <a:off x="960120" y="5696712"/>
            <a:ext cx="5074920" cy="457200"/>
          </a:xfrm>
          <a:prstGeom prst="rect">
            <a:avLst/>
          </a:prstGeom>
          <a:noFill/>
          <a:ln/>
        </p:spPr>
        <p:txBody>
          <a:bodyPr wrap="square" lIns="0" tIns="0" rIns="0" bIns="0" rtlCol="0" anchor="ctr"/>
          <a:lstStyle/>
          <a:p>
            <a:pPr indent="0" marL="0">
              <a:buNone/>
            </a:pPr>
            <a:r>
              <a:rPr lang="en-US" sz="1400" dirty="0">
                <a:solidFill>
                  <a:srgbClr val="1A2130"/>
                </a:solidFill>
                <a:latin typeface="Calibri" pitchFamily="34" charset="0"/>
                <a:ea typeface="Calibri" pitchFamily="34" charset="-122"/>
                <a:cs typeface="Calibri" pitchFamily="34" charset="-120"/>
              </a:rPr>
              <a:t>Numbers run across lot edges; black smudges are erased old labels.</a:t>
            </a:r>
            <a:endParaRPr lang="en-US" sz="1400" dirty="0"/>
          </a:p>
        </p:txBody>
      </p:sp>
      <p:sp>
        <p:nvSpPr>
          <p:cNvPr id="17" name="Text 13"/>
          <p:cNvSpPr/>
          <p:nvPr/>
        </p:nvSpPr>
        <p:spPr>
          <a:xfrm>
            <a:off x="6153912" y="5202936"/>
            <a:ext cx="292608" cy="292608"/>
          </a:xfrm>
          <a:prstGeom prst="ellipse">
            <a:avLst/>
          </a:prstGeom>
          <a:solidFill>
            <a:srgbClr val="B8892F"/>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Text 14"/>
          <p:cNvSpPr txBox="1"/>
          <p:nvPr/>
        </p:nvSpPr>
        <p:spPr>
          <a:xfrm>
            <a:off x="6565392" y="5166360"/>
            <a:ext cx="5074920" cy="457200"/>
          </a:xfrm>
          <a:prstGeom prst="rect">
            <a:avLst/>
          </a:prstGeom>
          <a:noFill/>
          <a:ln/>
        </p:spPr>
        <p:txBody>
          <a:bodyPr wrap="square" lIns="0" tIns="0" rIns="0" bIns="0" rtlCol="0" anchor="ctr"/>
          <a:lstStyle/>
          <a:p>
            <a:pPr indent="0" marL="0">
              <a:buNone/>
            </a:pPr>
            <a:r>
              <a:rPr lang="en-US" sz="1400" dirty="0">
                <a:solidFill>
                  <a:srgbClr val="1A2130"/>
                </a:solidFill>
                <a:latin typeface="Calibri" pitchFamily="34" charset="0"/>
                <a:ea typeface="Calibri" pitchFamily="34" charset="-122"/>
                <a:cs typeface="Calibri" pitchFamily="34" charset="-120"/>
              </a:rPr>
              <a:t>Each number turns with its lot and stays fully inside it.</a:t>
            </a:r>
            <a:endParaRPr lang="en-US" sz="1400" dirty="0"/>
          </a:p>
        </p:txBody>
      </p:sp>
      <p:sp>
        <p:nvSpPr>
          <p:cNvPr id="19" name="Text 15"/>
          <p:cNvSpPr/>
          <p:nvPr/>
        </p:nvSpPr>
        <p:spPr>
          <a:xfrm>
            <a:off x="6153912" y="5733288"/>
            <a:ext cx="292608" cy="292608"/>
          </a:xfrm>
          <a:prstGeom prst="ellipse">
            <a:avLst/>
          </a:prstGeom>
          <a:solidFill>
            <a:srgbClr val="B8892F"/>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0" name="Text 16"/>
          <p:cNvSpPr txBox="1"/>
          <p:nvPr/>
        </p:nvSpPr>
        <p:spPr>
          <a:xfrm>
            <a:off x="6565392" y="5696712"/>
            <a:ext cx="5074920" cy="457200"/>
          </a:xfrm>
          <a:prstGeom prst="rect">
            <a:avLst/>
          </a:prstGeom>
          <a:noFill/>
          <a:ln/>
        </p:spPr>
        <p:txBody>
          <a:bodyPr wrap="square" lIns="0" tIns="0" rIns="0" bIns="0" rtlCol="0" anchor="ctr"/>
          <a:lstStyle/>
          <a:p>
            <a:pPr indent="0" marL="0">
              <a:buNone/>
            </a:pPr>
            <a:r>
              <a:rPr lang="en-US" sz="1400" dirty="0">
                <a:solidFill>
                  <a:srgbClr val="1A2130"/>
                </a:solidFill>
                <a:latin typeface="Calibri" pitchFamily="34" charset="0"/>
                <a:ea typeface="Calibri" pitchFamily="34" charset="-122"/>
                <a:cs typeface="Calibri" pitchFamily="34" charset="-120"/>
              </a:rPr>
              <a:t>Narrow lots get a smaller number, never a clipped one.</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274"/>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C2340"/>
                </a:solidFill>
                <a:latin typeface="Cambria" pitchFamily="34" charset="0"/>
                <a:ea typeface="Cambria" pitchFamily="34" charset="-122"/>
                <a:cs typeface="Cambria" pitchFamily="34" charset="-120"/>
              </a:rPr>
              <a:t>Where things stand: what is mapped, unmatched, and still missing</a:t>
            </a:r>
            <a:endParaRPr lang="en-US" sz="3000" dirty="0"/>
          </a:p>
        </p:txBody>
      </p:sp>
      <p:sp>
        <p:nvSpPr>
          <p:cNvPr id="3" name="Text 1"/>
          <p:cNvSpPr txBox="1"/>
          <p:nvPr/>
        </p:nvSpPr>
        <p:spPr>
          <a:xfrm>
            <a:off x="548640" y="1188720"/>
            <a:ext cx="3383280" cy="365760"/>
          </a:xfrm>
          <a:prstGeom prst="rect">
            <a:avLst/>
          </a:prstGeom>
          <a:noFill/>
          <a:ln/>
        </p:spPr>
        <p:txBody>
          <a:bodyPr wrap="square" lIns="0" tIns="0" rIns="0" bIns="0" rtlCol="0" anchor="ctr"/>
          <a:lstStyle/>
          <a:p>
            <a:pPr indent="0" marL="0">
              <a:buNone/>
            </a:pPr>
            <a:r>
              <a:rPr lang="en-US" sz="1800" b="1" dirty="0">
                <a:solidFill>
                  <a:srgbClr val="2F6B46"/>
                </a:solidFill>
                <a:latin typeface="Cambria" pitchFamily="34" charset="0"/>
                <a:ea typeface="Cambria" pitchFamily="34" charset="-122"/>
                <a:cs typeface="Cambria" pitchFamily="34" charset="-120"/>
              </a:rPr>
              <a:t>On the map</a:t>
            </a:r>
            <a:endParaRPr lang="en-US" sz="1800" dirty="0"/>
          </a:p>
        </p:txBody>
      </p:sp>
      <p:sp>
        <p:nvSpPr>
          <p:cNvPr id="4" name="Text 2"/>
          <p:cNvSpPr txBox="1"/>
          <p:nvPr/>
        </p:nvSpPr>
        <p:spPr>
          <a:xfrm>
            <a:off x="4160520" y="1188720"/>
            <a:ext cx="4526280" cy="365760"/>
          </a:xfrm>
          <a:prstGeom prst="rect">
            <a:avLst/>
          </a:prstGeom>
          <a:noFill/>
          <a:ln/>
        </p:spPr>
        <p:txBody>
          <a:bodyPr wrap="square" lIns="0" tIns="0" rIns="0" bIns="0" rtlCol="0" anchor="ctr"/>
          <a:lstStyle/>
          <a:p>
            <a:pPr indent="0" marL="0">
              <a:buNone/>
            </a:pPr>
            <a:r>
              <a:rPr lang="en-US" sz="1800" b="1" dirty="0">
                <a:solidFill>
                  <a:srgbClr val="C9892F"/>
                </a:solidFill>
                <a:latin typeface="Cambria" pitchFamily="34" charset="0"/>
                <a:ea typeface="Cambria" pitchFamily="34" charset="-122"/>
                <a:cs typeface="Cambria" pitchFamily="34" charset="-120"/>
              </a:rPr>
              <a:t>Unmatched</a:t>
            </a:r>
            <a:endParaRPr lang="en-US" sz="1800" dirty="0"/>
          </a:p>
        </p:txBody>
      </p:sp>
      <p:sp>
        <p:nvSpPr>
          <p:cNvPr id="5" name="Text 3"/>
          <p:cNvSpPr txBox="1"/>
          <p:nvPr/>
        </p:nvSpPr>
        <p:spPr>
          <a:xfrm>
            <a:off x="8915400" y="1188720"/>
            <a:ext cx="2724912" cy="365760"/>
          </a:xfrm>
          <a:prstGeom prst="rect">
            <a:avLst/>
          </a:prstGeom>
          <a:noFill/>
          <a:ln/>
        </p:spPr>
        <p:txBody>
          <a:bodyPr wrap="square" lIns="0" tIns="0" rIns="0" bIns="0" rtlCol="0" anchor="ctr"/>
          <a:lstStyle/>
          <a:p>
            <a:pPr indent="0" marL="0">
              <a:buNone/>
            </a:pPr>
            <a:r>
              <a:rPr lang="en-US" sz="1800" b="1" dirty="0">
                <a:solidFill>
                  <a:srgbClr val="566274"/>
                </a:solidFill>
                <a:latin typeface="Cambria" pitchFamily="34" charset="0"/>
                <a:ea typeface="Cambria" pitchFamily="34" charset="-122"/>
                <a:cs typeface="Cambria" pitchFamily="34" charset="-120"/>
              </a:rPr>
              <a:t>Information still missing</a:t>
            </a:r>
            <a:endParaRPr lang="en-US" sz="1800" dirty="0"/>
          </a:p>
        </p:txBody>
      </p:sp>
      <p:sp>
        <p:nvSpPr>
          <p:cNvPr id="6" name="Text 4"/>
          <p:cNvSpPr txBox="1"/>
          <p:nvPr/>
        </p:nvSpPr>
        <p:spPr>
          <a:xfrm>
            <a:off x="548640" y="1600200"/>
            <a:ext cx="3383280" cy="822960"/>
          </a:xfrm>
          <a:prstGeom prst="rect">
            <a:avLst/>
          </a:prstGeom>
          <a:noFill/>
          <a:ln/>
        </p:spPr>
        <p:txBody>
          <a:bodyPr wrap="square" lIns="0" tIns="0" rIns="0" bIns="0" rtlCol="0" anchor="ctr"/>
          <a:lstStyle/>
          <a:p>
            <a:pPr indent="0" marL="0">
              <a:buNone/>
            </a:pPr>
            <a:r>
              <a:rPr lang="en-US" sz="5400" b="1" dirty="0">
                <a:solidFill>
                  <a:srgbClr val="2F6B46"/>
                </a:solidFill>
                <a:latin typeface="Cambria" pitchFamily="34" charset="0"/>
                <a:ea typeface="Cambria" pitchFamily="34" charset="-122"/>
                <a:cs typeface="Cambria" pitchFamily="34" charset="-120"/>
              </a:rPr>
              <a:t>3,103</a:t>
            </a:r>
            <a:endParaRPr lang="en-US" sz="5400" dirty="0"/>
          </a:p>
        </p:txBody>
      </p:sp>
      <p:sp>
        <p:nvSpPr>
          <p:cNvPr id="7" name="Text 5"/>
          <p:cNvSpPr txBox="1"/>
          <p:nvPr/>
        </p:nvSpPr>
        <p:spPr>
          <a:xfrm>
            <a:off x="548640" y="2423160"/>
            <a:ext cx="3383280" cy="640080"/>
          </a:xfrm>
          <a:prstGeom prst="rect">
            <a:avLst/>
          </a:prstGeom>
          <a:noFill/>
          <a:ln/>
        </p:spPr>
        <p:txBody>
          <a:bodyPr wrap="square" lIns="0" tIns="0" rIns="0" bIns="0" rtlCol="0" anchor="t"/>
          <a:lstStyle/>
          <a:p>
            <a:pPr indent="0" marL="0">
              <a:buNone/>
            </a:pPr>
            <a:r>
              <a:rPr lang="en-US" sz="1400" dirty="0">
                <a:solidFill>
                  <a:srgbClr val="1A2130"/>
                </a:solidFill>
                <a:latin typeface="Calibri" pitchFamily="34" charset="0"/>
                <a:ea typeface="Calibri" pitchFamily="34" charset="-122"/>
                <a:cs typeface="Calibri" pitchFamily="34" charset="-120"/>
              </a:rPr>
              <a:t>lots verified: drawn outline, H-number and legacy label all agree</a:t>
            </a:r>
            <a:endParaRPr lang="en-US" sz="1400" dirty="0"/>
          </a:p>
        </p:txBody>
      </p:sp>
      <p:graphicFrame>
        <p:nvGraphicFramePr>
          <p:cNvPr id="8" name="Chart 0" descr=""/>
          <p:cNvGraphicFramePr/>
          <p:nvPr/>
        </p:nvGraphicFramePr>
        <p:xfrm>
          <a:off x="457200" y="3200400"/>
          <a:ext cx="3566160" cy="219456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4160520" y="1600200"/>
            <a:ext cx="1737360" cy="822960"/>
          </a:xfrm>
          <a:prstGeom prst="rect">
            <a:avLst/>
          </a:prstGeom>
          <a:noFill/>
          <a:ln/>
        </p:spPr>
        <p:txBody>
          <a:bodyPr wrap="square" lIns="0" tIns="0" rIns="0" bIns="0" rtlCol="0" anchor="ctr"/>
          <a:lstStyle/>
          <a:p>
            <a:pPr indent="0" marL="0">
              <a:buNone/>
            </a:pPr>
            <a:r>
              <a:rPr lang="en-US" sz="5400" b="1" dirty="0">
                <a:solidFill>
                  <a:srgbClr val="C9892F"/>
                </a:solidFill>
                <a:latin typeface="Cambria" pitchFamily="34" charset="0"/>
                <a:ea typeface="Cambria" pitchFamily="34" charset="-122"/>
                <a:cs typeface="Cambria" pitchFamily="34" charset="-120"/>
              </a:rPr>
              <a:t>218</a:t>
            </a:r>
            <a:endParaRPr lang="en-US" sz="5400" dirty="0"/>
          </a:p>
        </p:txBody>
      </p:sp>
      <p:sp>
        <p:nvSpPr>
          <p:cNvPr id="10" name="Text 7"/>
          <p:cNvSpPr txBox="1"/>
          <p:nvPr/>
        </p:nvSpPr>
        <p:spPr>
          <a:xfrm>
            <a:off x="4160520" y="2423160"/>
            <a:ext cx="2103120" cy="640080"/>
          </a:xfrm>
          <a:prstGeom prst="rect">
            <a:avLst/>
          </a:prstGeom>
          <a:noFill/>
          <a:ln/>
        </p:spPr>
        <p:txBody>
          <a:bodyPr wrap="square" lIns="0" tIns="0" rIns="0" bIns="0" rtlCol="0" anchor="t"/>
          <a:lstStyle/>
          <a:p>
            <a:pPr indent="0" marL="0">
              <a:buNone/>
            </a:pPr>
            <a:r>
              <a:rPr lang="en-US" sz="1400" dirty="0">
                <a:solidFill>
                  <a:srgbClr val="1A2130"/>
                </a:solidFill>
                <a:latin typeface="Calibri" pitchFamily="34" charset="0"/>
                <a:ea typeface="Calibri" pitchFamily="34" charset="-122"/>
                <a:cs typeface="Calibri" pitchFamily="34" charset="-120"/>
              </a:rPr>
              <a:t>visible lots whose number is unresolved</a:t>
            </a:r>
            <a:endParaRPr lang="en-US" sz="1400" dirty="0"/>
          </a:p>
        </p:txBody>
      </p:sp>
      <p:sp>
        <p:nvSpPr>
          <p:cNvPr id="11" name="Text 8"/>
          <p:cNvSpPr txBox="1"/>
          <p:nvPr/>
        </p:nvSpPr>
        <p:spPr>
          <a:xfrm>
            <a:off x="6583680" y="1600200"/>
            <a:ext cx="1371600" cy="822960"/>
          </a:xfrm>
          <a:prstGeom prst="rect">
            <a:avLst/>
          </a:prstGeom>
          <a:noFill/>
          <a:ln/>
        </p:spPr>
        <p:txBody>
          <a:bodyPr wrap="square" lIns="0" tIns="0" rIns="0" bIns="0" rtlCol="0" anchor="ctr"/>
          <a:lstStyle/>
          <a:p>
            <a:pPr indent="0" marL="0">
              <a:buNone/>
            </a:pPr>
            <a:r>
              <a:rPr lang="en-US" sz="5400" b="1" dirty="0">
                <a:solidFill>
                  <a:srgbClr val="C9892F"/>
                </a:solidFill>
                <a:latin typeface="Cambria" pitchFamily="34" charset="0"/>
                <a:ea typeface="Cambria" pitchFamily="34" charset="-122"/>
                <a:cs typeface="Cambria" pitchFamily="34" charset="-120"/>
              </a:rPr>
              <a:t>68</a:t>
            </a:r>
            <a:endParaRPr lang="en-US" sz="5400" dirty="0"/>
          </a:p>
        </p:txBody>
      </p:sp>
      <p:sp>
        <p:nvSpPr>
          <p:cNvPr id="12" name="Text 9"/>
          <p:cNvSpPr txBox="1"/>
          <p:nvPr/>
        </p:nvSpPr>
        <p:spPr>
          <a:xfrm>
            <a:off x="6583680" y="2423160"/>
            <a:ext cx="2103120" cy="640080"/>
          </a:xfrm>
          <a:prstGeom prst="rect">
            <a:avLst/>
          </a:prstGeom>
          <a:noFill/>
          <a:ln/>
        </p:spPr>
        <p:txBody>
          <a:bodyPr wrap="square" lIns="0" tIns="0" rIns="0" bIns="0" rtlCol="0" anchor="t"/>
          <a:lstStyle/>
          <a:p>
            <a:pPr indent="0" marL="0">
              <a:buNone/>
            </a:pPr>
            <a:r>
              <a:rPr lang="en-US" sz="1400" dirty="0">
                <a:solidFill>
                  <a:srgbClr val="1A2130"/>
                </a:solidFill>
                <a:latin typeface="Calibri" pitchFamily="34" charset="0"/>
                <a:ea typeface="Calibri" pitchFamily="34" charset="-122"/>
                <a:cs typeface="Calibri" pitchFamily="34" charset="-120"/>
              </a:rPr>
              <a:t>decoder lots with no map position</a:t>
            </a:r>
            <a:endParaRPr lang="en-US" sz="1400" dirty="0"/>
          </a:p>
        </p:txBody>
      </p:sp>
      <p:graphicFrame>
        <p:nvGraphicFramePr>
          <p:cNvPr id="13" name="Chart 1" descr=""/>
          <p:cNvGraphicFramePr/>
          <p:nvPr/>
        </p:nvGraphicFramePr>
        <p:xfrm>
          <a:off x="4069080" y="3200400"/>
          <a:ext cx="4663440" cy="2651760"/>
        </p:xfrm>
        <a:graphic xmlns:a="http://schemas.openxmlformats.org/drawingml/2006/main">
          <a:graphicData uri="http://schemas.openxmlformats.org/drawingml/2006/chart">
            <c:chart xmlns:c="http://schemas.openxmlformats.org/drawingml/2006/chart" r:id="rId2"/>
          </a:graphicData>
        </a:graphic>
      </p:graphicFrame>
      <p:sp>
        <p:nvSpPr>
          <p:cNvPr id="14" name="Text 10"/>
          <p:cNvSpPr txBox="1"/>
          <p:nvPr/>
        </p:nvSpPr>
        <p:spPr>
          <a:xfrm>
            <a:off x="8915400" y="1600200"/>
            <a:ext cx="2724912" cy="1463040"/>
          </a:xfrm>
          <a:prstGeom prst="rect">
            <a:avLst/>
          </a:prstGeom>
          <a:noFill/>
          <a:ln/>
        </p:spPr>
        <p:txBody>
          <a:bodyPr wrap="square" lIns="0" tIns="0" rIns="0" bIns="0" rtlCol="0" anchor="t"/>
          <a:lstStyle/>
          <a:p>
            <a:pPr indent="0" marL="0">
              <a:buNone/>
            </a:pPr>
            <a:r>
              <a:rPr lang="en-US" sz="5400" b="1" dirty="0">
                <a:solidFill>
                  <a:srgbClr val="566274"/>
                </a:solidFill>
                <a:latin typeface="Cambria" pitchFamily="34" charset="0"/>
                <a:ea typeface="Cambria" pitchFamily="34" charset="-122"/>
                <a:cs typeface="Cambria" pitchFamily="34" charset="-120"/>
              </a:rPr>
              <a:t>0</a:t>
            </a:r>
            <a:endParaRPr lang="en-US" sz="5400" dirty="0"/>
          </a:p>
          <a:p>
            <a:pPr indent="0" marL="0">
              <a:buNone/>
            </a:pPr>
            <a:r>
              <a:rPr lang="en-US" sz="1400" dirty="0">
                <a:solidFill>
                  <a:srgbClr val="1A2130"/>
                </a:solidFill>
                <a:latin typeface="Calibri" pitchFamily="34" charset="0"/>
                <a:ea typeface="Calibri" pitchFamily="34" charset="-122"/>
                <a:cs typeface="Calibri" pitchFamily="34" charset="-120"/>
              </a:rPr>
              <a:t>burial records entered so far</a:t>
            </a:r>
            <a:endParaRPr lang="en-US" sz="5400" dirty="0"/>
          </a:p>
        </p:txBody>
      </p:sp>
      <p:sp>
        <p:nvSpPr>
          <p:cNvPr id="15" name="Text 11"/>
          <p:cNvSpPr txBox="1"/>
          <p:nvPr/>
        </p:nvSpPr>
        <p:spPr>
          <a:xfrm>
            <a:off x="8915400" y="3200400"/>
            <a:ext cx="2724912" cy="1463040"/>
          </a:xfrm>
          <a:prstGeom prst="rect">
            <a:avLst/>
          </a:prstGeom>
          <a:noFill/>
          <a:ln/>
        </p:spPr>
        <p:txBody>
          <a:bodyPr wrap="square" lIns="0" tIns="0" rIns="0" bIns="0" rtlCol="0" anchor="t"/>
          <a:lstStyle/>
          <a:p>
            <a:pPr indent="0" marL="0">
              <a:buNone/>
            </a:pPr>
            <a:r>
              <a:rPr lang="en-US" sz="5400" b="1" dirty="0">
                <a:solidFill>
                  <a:srgbClr val="566274"/>
                </a:solidFill>
                <a:latin typeface="Cambria" pitchFamily="34" charset="0"/>
                <a:ea typeface="Cambria" pitchFamily="34" charset="-122"/>
                <a:cs typeface="Cambria" pitchFamily="34" charset="-120"/>
              </a:rPr>
              <a:t>0</a:t>
            </a:r>
            <a:endParaRPr lang="en-US" sz="5400" dirty="0"/>
          </a:p>
          <a:p>
            <a:pPr indent="0" marL="0">
              <a:buNone/>
            </a:pPr>
            <a:r>
              <a:rPr lang="en-US" sz="1400" dirty="0">
                <a:solidFill>
                  <a:srgbClr val="1A2130"/>
                </a:solidFill>
                <a:latin typeface="Calibri" pitchFamily="34" charset="0"/>
                <a:ea typeface="Calibri" pitchFamily="34" charset="-122"/>
                <a:cs typeface="Calibri" pitchFamily="34" charset="-120"/>
              </a:rPr>
              <a:t>lots with a verified grave count</a:t>
            </a:r>
            <a:endParaRPr lang="en-US" sz="5400" dirty="0"/>
          </a:p>
        </p:txBody>
      </p:sp>
      <p:sp>
        <p:nvSpPr>
          <p:cNvPr id="16" name="Text 12"/>
          <p:cNvSpPr txBox="1"/>
          <p:nvPr/>
        </p:nvSpPr>
        <p:spPr>
          <a:xfrm>
            <a:off x="8915400" y="4754880"/>
            <a:ext cx="2724912" cy="1097280"/>
          </a:xfrm>
          <a:prstGeom prst="rect">
            <a:avLst/>
          </a:prstGeom>
          <a:noFill/>
          <a:ln/>
        </p:spPr>
        <p:txBody>
          <a:bodyPr wrap="square" lIns="0" tIns="0" rIns="0" bIns="0" rtlCol="0" anchor="t"/>
          <a:lstStyle/>
          <a:p>
            <a:pPr indent="0" marL="0">
              <a:buNone/>
            </a:pPr>
            <a:r>
              <a:rPr lang="en-US" sz="1200" dirty="0">
                <a:solidFill>
                  <a:srgbClr val="566274"/>
                </a:solidFill>
                <a:latin typeface="Calibri" pitchFamily="34" charset="0"/>
                <a:ea typeface="Calibri" pitchFamily="34" charset="-122"/>
                <a:cs typeface="Calibri" pitchFamily="34" charset="-120"/>
              </a:rPr>
              <a:t>Unresolved lots are shaded, never numbered by guesswork. A candidate H-number appears only in the lot panel.</a:t>
            </a:r>
            <a:endParaRPr lang="en-US" sz="1200" dirty="0"/>
          </a:p>
        </p:txBody>
      </p:sp>
      <p:sp>
        <p:nvSpPr>
          <p:cNvPr id="17" name="Text 13"/>
          <p:cNvSpPr txBox="1"/>
          <p:nvPr/>
        </p:nvSpPr>
        <p:spPr>
          <a:xfrm>
            <a:off x="548640" y="5943600"/>
            <a:ext cx="11064240" cy="411480"/>
          </a:xfrm>
          <a:prstGeom prst="rect">
            <a:avLst/>
          </a:prstGeom>
          <a:noFill/>
          <a:ln/>
        </p:spPr>
        <p:txBody>
          <a:bodyPr wrap="square" lIns="0" tIns="0" rIns="0" bIns="0" rtlCol="0" anchor="ctr"/>
          <a:lstStyle/>
          <a:p>
            <a:pPr indent="0" marL="0">
              <a:buNone/>
            </a:pPr>
            <a:r>
              <a:rPr lang="en-US" sz="1200" dirty="0">
                <a:solidFill>
                  <a:srgbClr val="566274"/>
                </a:solidFill>
                <a:latin typeface="Calibri" pitchFamily="34" charset="0"/>
                <a:ea typeface="Calibri" pitchFamily="34" charset="-122"/>
                <a:cs typeface="Calibri" pitchFamily="34" charset="-120"/>
              </a:rPr>
              <a:t>Previous build, for reference (project figures): 3,063 lots placed, 136 unplaced entries listed, 49 unmatched labels. The categories are not identical, so the counts are shown side by side, not as a percentage.</a:t>
            </a:r>
            <a:endParaRPr lang="en-US" sz="12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274"/>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C2340"/>
                </a:solidFill>
                <a:latin typeface="Cambria" pitchFamily="34" charset="0"/>
                <a:ea typeface="Cambria" pitchFamily="34" charset="-122"/>
                <a:cs typeface="Cambria" pitchFamily="34" charset="-120"/>
              </a:rPr>
              <a:t>How the map is built, and why each step exists</a:t>
            </a:r>
            <a:endParaRPr lang="en-US" sz="3000" dirty="0"/>
          </a:p>
        </p:txBody>
      </p:sp>
      <p:sp>
        <p:nvSpPr>
          <p:cNvPr id="3" name="Step card 1"/>
          <p:cNvSpPr/>
          <p:nvPr/>
        </p:nvSpPr>
        <p:spPr>
          <a:xfrm>
            <a:off x="548640" y="1325880"/>
            <a:ext cx="3429000" cy="2240280"/>
          </a:xfrm>
          <a:prstGeom prst="rect">
            <a:avLst/>
          </a:prstGeom>
          <a:solidFill>
            <a:srgbClr val="F2F4F7"/>
          </a:solidFill>
          <a:ln w="9525">
            <a:solidFill>
              <a:srgbClr val="DDE3EA"/>
            </a:solidFill>
            <a:prstDash val="solid"/>
          </a:ln>
        </p:spPr>
      </p:sp>
      <p:sp>
        <p:nvSpPr>
          <p:cNvPr id="4" name="Text 2"/>
          <p:cNvSpPr/>
          <p:nvPr/>
        </p:nvSpPr>
        <p:spPr>
          <a:xfrm>
            <a:off x="731520" y="1508760"/>
            <a:ext cx="384048" cy="384048"/>
          </a:xfrm>
          <a:prstGeom prst="ellipse">
            <a:avLst/>
          </a:prstGeom>
          <a:solidFill>
            <a:srgbClr val="0C2340"/>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5" name="Text 3"/>
          <p:cNvSpPr txBox="1"/>
          <p:nvPr/>
        </p:nvSpPr>
        <p:spPr>
          <a:xfrm>
            <a:off x="1234440" y="1508760"/>
            <a:ext cx="2560320" cy="384048"/>
          </a:xfrm>
          <a:prstGeom prst="rect">
            <a:avLst/>
          </a:prstGeom>
          <a:noFill/>
          <a:ln/>
        </p:spPr>
        <p:txBody>
          <a:bodyPr wrap="square" lIns="0" tIns="0" rIns="0" bIns="0" rtlCol="0" anchor="ctr"/>
          <a:lstStyle/>
          <a:p>
            <a:pPr indent="0" marL="0">
              <a:buNone/>
            </a:pPr>
            <a:r>
              <a:rPr lang="en-US" sz="1700" b="1" dirty="0">
                <a:solidFill>
                  <a:srgbClr val="0C2340"/>
                </a:solidFill>
                <a:latin typeface="Cambria" pitchFamily="34" charset="0"/>
                <a:ea typeface="Cambria" pitchFamily="34" charset="-122"/>
                <a:cs typeface="Cambria" pitchFamily="34" charset="-120"/>
              </a:rPr>
              <a:t>Original drawings</a:t>
            </a:r>
            <a:endParaRPr lang="en-US" sz="1700" dirty="0"/>
          </a:p>
        </p:txBody>
      </p:sp>
      <p:sp>
        <p:nvSpPr>
          <p:cNvPr id="6" name="Text 4"/>
          <p:cNvSpPr txBox="1"/>
          <p:nvPr/>
        </p:nvSpPr>
        <p:spPr>
          <a:xfrm>
            <a:off x="731520" y="2011680"/>
            <a:ext cx="3063240" cy="868680"/>
          </a:xfrm>
          <a:prstGeom prst="rect">
            <a:avLst/>
          </a:prstGeom>
          <a:noFill/>
          <a:ln/>
        </p:spPr>
        <p:txBody>
          <a:bodyPr wrap="square" lIns="0" tIns="0" rIns="0" bIns="0" rtlCol="0" anchor="t"/>
          <a:lstStyle/>
          <a:p>
            <a:pPr indent="0" marL="0">
              <a:buNone/>
            </a:pPr>
            <a:r>
              <a:rPr lang="en-US" sz="1400" dirty="0">
                <a:solidFill>
                  <a:srgbClr val="1A2130"/>
                </a:solidFill>
                <a:latin typeface="Calibri" pitchFamily="34" charset="0"/>
                <a:ea typeface="Calibri" pitchFamily="34" charset="-122"/>
                <a:cs typeface="Calibri" pitchFamily="34" charset="-120"/>
              </a:rPr>
              <a:t>Two PDFs: an overall map and nine section pages. Lot numbers are drawn as tiny shapes, not text.</a:t>
            </a:r>
            <a:endParaRPr lang="en-US" sz="1400" dirty="0"/>
          </a:p>
        </p:txBody>
      </p:sp>
      <p:sp>
        <p:nvSpPr>
          <p:cNvPr id="7" name="Text 5"/>
          <p:cNvSpPr txBox="1"/>
          <p:nvPr/>
        </p:nvSpPr>
        <p:spPr>
          <a:xfrm>
            <a:off x="731520" y="2898648"/>
            <a:ext cx="3063240" cy="548640"/>
          </a:xfrm>
          <a:prstGeom prst="rect">
            <a:avLst/>
          </a:prstGeom>
          <a:noFill/>
          <a:ln/>
        </p:spPr>
        <p:txBody>
          <a:bodyPr wrap="square" lIns="0" tIns="0" rIns="0" bIns="0" rtlCol="0" anchor="t"/>
          <a:lstStyle/>
          <a:p>
            <a:pPr indent="0" marL="0">
              <a:buNone/>
            </a:pPr>
            <a:r>
              <a:rPr lang="en-US" sz="1300" i="1" dirty="0">
                <a:solidFill>
                  <a:srgbClr val="566274"/>
                </a:solidFill>
                <a:latin typeface="Calibri" pitchFamily="34" charset="0"/>
                <a:ea typeface="Calibri" pitchFamily="34" charset="-122"/>
                <a:cs typeface="Calibri" pitchFamily="34" charset="-120"/>
              </a:rPr>
              <a:t>Now: the CAD file holds real text, so numbers are read directly.</a:t>
            </a:r>
            <a:endParaRPr lang="en-US" sz="1300" dirty="0"/>
          </a:p>
        </p:txBody>
      </p:sp>
      <p:sp>
        <p:nvSpPr>
          <p:cNvPr id="8" name="Shape 6"/>
          <p:cNvSpPr/>
          <p:nvPr/>
        </p:nvSpPr>
        <p:spPr>
          <a:xfrm>
            <a:off x="4014216" y="2308860"/>
            <a:ext cx="320040" cy="274320"/>
          </a:xfrm>
          <a:prstGeom prst="rightArrow">
            <a:avLst/>
          </a:prstGeom>
          <a:solidFill>
            <a:srgbClr val="B8892F"/>
          </a:solidFill>
          <a:ln w="6350">
            <a:solidFill>
              <a:srgbClr val="B8892F"/>
            </a:solidFill>
            <a:prstDash val="solid"/>
          </a:ln>
        </p:spPr>
      </p:sp>
      <p:sp>
        <p:nvSpPr>
          <p:cNvPr id="9" name="Step card 2"/>
          <p:cNvSpPr/>
          <p:nvPr/>
        </p:nvSpPr>
        <p:spPr>
          <a:xfrm>
            <a:off x="4366260" y="1325880"/>
            <a:ext cx="3429000" cy="2240280"/>
          </a:xfrm>
          <a:prstGeom prst="rect">
            <a:avLst/>
          </a:prstGeom>
          <a:solidFill>
            <a:srgbClr val="F2F4F7"/>
          </a:solidFill>
          <a:ln w="9525">
            <a:solidFill>
              <a:srgbClr val="DDE3EA"/>
            </a:solidFill>
            <a:prstDash val="solid"/>
          </a:ln>
        </p:spPr>
      </p:sp>
      <p:sp>
        <p:nvSpPr>
          <p:cNvPr id="10" name="Text 8"/>
          <p:cNvSpPr/>
          <p:nvPr/>
        </p:nvSpPr>
        <p:spPr>
          <a:xfrm>
            <a:off x="4549140" y="1508760"/>
            <a:ext cx="384048" cy="384048"/>
          </a:xfrm>
          <a:prstGeom prst="ellipse">
            <a:avLst/>
          </a:prstGeom>
          <a:solidFill>
            <a:srgbClr val="0C2340"/>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5052060" y="1508760"/>
            <a:ext cx="2560320" cy="384048"/>
          </a:xfrm>
          <a:prstGeom prst="rect">
            <a:avLst/>
          </a:prstGeom>
          <a:noFill/>
          <a:ln/>
        </p:spPr>
        <p:txBody>
          <a:bodyPr wrap="square" lIns="0" tIns="0" rIns="0" bIns="0" rtlCol="0" anchor="ctr"/>
          <a:lstStyle/>
          <a:p>
            <a:pPr indent="0" marL="0">
              <a:buNone/>
            </a:pPr>
            <a:r>
              <a:rPr lang="en-US" sz="1700" b="1" dirty="0">
                <a:solidFill>
                  <a:srgbClr val="0C2340"/>
                </a:solidFill>
                <a:latin typeface="Cambria" pitchFamily="34" charset="0"/>
                <a:ea typeface="Cambria" pitchFamily="34" charset="-122"/>
                <a:cs typeface="Cambria" pitchFamily="34" charset="-120"/>
              </a:rPr>
              <a:t>Glyph recognition</a:t>
            </a:r>
            <a:endParaRPr lang="en-US" sz="1700" dirty="0"/>
          </a:p>
        </p:txBody>
      </p:sp>
      <p:sp>
        <p:nvSpPr>
          <p:cNvPr id="12" name="Text 10"/>
          <p:cNvSpPr txBox="1"/>
          <p:nvPr/>
        </p:nvSpPr>
        <p:spPr>
          <a:xfrm>
            <a:off x="4549140" y="2011680"/>
            <a:ext cx="3063240" cy="868680"/>
          </a:xfrm>
          <a:prstGeom prst="rect">
            <a:avLst/>
          </a:prstGeom>
          <a:noFill/>
          <a:ln/>
        </p:spPr>
        <p:txBody>
          <a:bodyPr wrap="square" lIns="0" tIns="0" rIns="0" bIns="0" rtlCol="0" anchor="t"/>
          <a:lstStyle/>
          <a:p>
            <a:pPr indent="0" marL="0">
              <a:buNone/>
            </a:pPr>
            <a:r>
              <a:rPr lang="en-US" sz="1400" dirty="0">
                <a:solidFill>
                  <a:srgbClr val="1A2130"/>
                </a:solidFill>
                <a:latin typeface="Calibri" pitchFamily="34" charset="0"/>
                <a:ea typeface="Calibri" pitchFamily="34" charset="-122"/>
                <a:cs typeface="Calibri" pitchFamily="34" charset="-120"/>
              </a:rPr>
              <a:t>Software matched each drawn digit against templates for 0 to 9, A, B and H.</a:t>
            </a:r>
            <a:endParaRPr lang="en-US" sz="1400" dirty="0"/>
          </a:p>
        </p:txBody>
      </p:sp>
      <p:sp>
        <p:nvSpPr>
          <p:cNvPr id="13" name="Text 11"/>
          <p:cNvSpPr txBox="1"/>
          <p:nvPr/>
        </p:nvSpPr>
        <p:spPr>
          <a:xfrm>
            <a:off x="4549140" y="2898648"/>
            <a:ext cx="3063240" cy="548640"/>
          </a:xfrm>
          <a:prstGeom prst="rect">
            <a:avLst/>
          </a:prstGeom>
          <a:noFill/>
          <a:ln/>
        </p:spPr>
        <p:txBody>
          <a:bodyPr wrap="square" lIns="0" tIns="0" rIns="0" bIns="0" rtlCol="0" anchor="t"/>
          <a:lstStyle/>
          <a:p>
            <a:pPr indent="0" marL="0">
              <a:buNone/>
            </a:pPr>
            <a:r>
              <a:rPr lang="en-US" sz="1300" i="1" dirty="0">
                <a:solidFill>
                  <a:srgbClr val="566274"/>
                </a:solidFill>
                <a:latin typeface="Calibri" pitchFamily="34" charset="0"/>
                <a:ea typeface="Calibri" pitchFamily="34" charset="-122"/>
                <a:cs typeface="Calibri" pitchFamily="34" charset="-120"/>
              </a:rPr>
              <a:t>Now: kept only as an independent cross-check.</a:t>
            </a:r>
            <a:endParaRPr lang="en-US" sz="1300" dirty="0"/>
          </a:p>
        </p:txBody>
      </p:sp>
      <p:sp>
        <p:nvSpPr>
          <p:cNvPr id="14" name="Shape 12"/>
          <p:cNvSpPr/>
          <p:nvPr/>
        </p:nvSpPr>
        <p:spPr>
          <a:xfrm>
            <a:off x="7831836" y="2308860"/>
            <a:ext cx="320040" cy="274320"/>
          </a:xfrm>
          <a:prstGeom prst="rightArrow">
            <a:avLst/>
          </a:prstGeom>
          <a:solidFill>
            <a:srgbClr val="B8892F"/>
          </a:solidFill>
          <a:ln w="6350">
            <a:solidFill>
              <a:srgbClr val="B8892F"/>
            </a:solidFill>
            <a:prstDash val="solid"/>
          </a:ln>
        </p:spPr>
      </p:sp>
      <p:sp>
        <p:nvSpPr>
          <p:cNvPr id="15" name="Step card 3"/>
          <p:cNvSpPr/>
          <p:nvPr/>
        </p:nvSpPr>
        <p:spPr>
          <a:xfrm>
            <a:off x="8183880" y="1325880"/>
            <a:ext cx="3429000" cy="2240280"/>
          </a:xfrm>
          <a:prstGeom prst="rect">
            <a:avLst/>
          </a:prstGeom>
          <a:solidFill>
            <a:srgbClr val="F2F4F7"/>
          </a:solidFill>
          <a:ln w="9525">
            <a:solidFill>
              <a:srgbClr val="DDE3EA"/>
            </a:solidFill>
            <a:prstDash val="solid"/>
          </a:ln>
        </p:spPr>
      </p:sp>
      <p:sp>
        <p:nvSpPr>
          <p:cNvPr id="16" name="Text 14"/>
          <p:cNvSpPr/>
          <p:nvPr/>
        </p:nvSpPr>
        <p:spPr>
          <a:xfrm>
            <a:off x="8366760" y="1508760"/>
            <a:ext cx="384048" cy="384048"/>
          </a:xfrm>
          <a:prstGeom prst="ellipse">
            <a:avLst/>
          </a:prstGeom>
          <a:solidFill>
            <a:srgbClr val="0C2340"/>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8869680" y="1508760"/>
            <a:ext cx="2560320" cy="384048"/>
          </a:xfrm>
          <a:prstGeom prst="rect">
            <a:avLst/>
          </a:prstGeom>
          <a:noFill/>
          <a:ln/>
        </p:spPr>
        <p:txBody>
          <a:bodyPr wrap="square" lIns="0" tIns="0" rIns="0" bIns="0" rtlCol="0" anchor="ctr"/>
          <a:lstStyle/>
          <a:p>
            <a:pPr indent="0" marL="0">
              <a:buNone/>
            </a:pPr>
            <a:r>
              <a:rPr lang="en-US" sz="1700" b="1" dirty="0">
                <a:solidFill>
                  <a:srgbClr val="0C2340"/>
                </a:solidFill>
                <a:latin typeface="Cambria" pitchFamily="34" charset="0"/>
                <a:ea typeface="Cambria" pitchFamily="34" charset="-122"/>
                <a:cs typeface="Cambria" pitchFamily="34" charset="-120"/>
              </a:rPr>
              <a:t>Coordinate registration</a:t>
            </a:r>
            <a:endParaRPr lang="en-US" sz="1700" dirty="0"/>
          </a:p>
        </p:txBody>
      </p:sp>
      <p:sp>
        <p:nvSpPr>
          <p:cNvPr id="18" name="Text 16"/>
          <p:cNvSpPr txBox="1"/>
          <p:nvPr/>
        </p:nvSpPr>
        <p:spPr>
          <a:xfrm>
            <a:off x="8366760" y="2011680"/>
            <a:ext cx="3063240" cy="868680"/>
          </a:xfrm>
          <a:prstGeom prst="rect">
            <a:avLst/>
          </a:prstGeom>
          <a:noFill/>
          <a:ln/>
        </p:spPr>
        <p:txBody>
          <a:bodyPr wrap="square" lIns="0" tIns="0" rIns="0" bIns="0" rtlCol="0" anchor="t"/>
          <a:lstStyle/>
          <a:p>
            <a:pPr indent="0" marL="0">
              <a:buNone/>
            </a:pPr>
            <a:r>
              <a:rPr lang="en-US" sz="1400" dirty="0">
                <a:solidFill>
                  <a:srgbClr val="1A2130"/>
                </a:solidFill>
                <a:latin typeface="Calibri" pitchFamily="34" charset="0"/>
                <a:ea typeface="Calibri" pitchFamily="34" charset="-122"/>
                <a:cs typeface="Calibri" pitchFamily="34" charset="-120"/>
              </a:rPr>
              <a:t>Section pages were lined up on the overall map (error under 0.05 map units).</a:t>
            </a:r>
            <a:endParaRPr lang="en-US" sz="1400" dirty="0"/>
          </a:p>
        </p:txBody>
      </p:sp>
      <p:sp>
        <p:nvSpPr>
          <p:cNvPr id="19" name="Text 17"/>
          <p:cNvSpPr txBox="1"/>
          <p:nvPr/>
        </p:nvSpPr>
        <p:spPr>
          <a:xfrm>
            <a:off x="8366760" y="2898648"/>
            <a:ext cx="3063240" cy="548640"/>
          </a:xfrm>
          <a:prstGeom prst="rect">
            <a:avLst/>
          </a:prstGeom>
          <a:noFill/>
          <a:ln/>
        </p:spPr>
        <p:txBody>
          <a:bodyPr wrap="square" lIns="0" tIns="0" rIns="0" bIns="0" rtlCol="0" anchor="t"/>
          <a:lstStyle/>
          <a:p>
            <a:pPr indent="0" marL="0">
              <a:buNone/>
            </a:pPr>
            <a:r>
              <a:rPr lang="en-US" sz="1300" i="1" dirty="0">
                <a:solidFill>
                  <a:srgbClr val="566274"/>
                </a:solidFill>
                <a:latin typeface="Calibri" pitchFamily="34" charset="0"/>
                <a:ea typeface="Calibri" pitchFamily="34" charset="-122"/>
                <a:cs typeface="Calibri" pitchFamily="34" charset="-120"/>
              </a:rPr>
              <a:t>Now: old readings are aligned to the CAD file (0.1 unit).</a:t>
            </a:r>
            <a:endParaRPr lang="en-US" sz="1300" dirty="0"/>
          </a:p>
        </p:txBody>
      </p:sp>
      <p:sp>
        <p:nvSpPr>
          <p:cNvPr id="20" name="Step card 4"/>
          <p:cNvSpPr/>
          <p:nvPr/>
        </p:nvSpPr>
        <p:spPr>
          <a:xfrm>
            <a:off x="548640" y="3840480"/>
            <a:ext cx="3429000" cy="2240280"/>
          </a:xfrm>
          <a:prstGeom prst="rect">
            <a:avLst/>
          </a:prstGeom>
          <a:solidFill>
            <a:srgbClr val="F2F4F7"/>
          </a:solidFill>
          <a:ln w="9525">
            <a:solidFill>
              <a:srgbClr val="DDE3EA"/>
            </a:solidFill>
            <a:prstDash val="solid"/>
          </a:ln>
        </p:spPr>
      </p:sp>
      <p:sp>
        <p:nvSpPr>
          <p:cNvPr id="21" name="Text 19"/>
          <p:cNvSpPr/>
          <p:nvPr/>
        </p:nvSpPr>
        <p:spPr>
          <a:xfrm>
            <a:off x="731520" y="4023360"/>
            <a:ext cx="384048" cy="384048"/>
          </a:xfrm>
          <a:prstGeom prst="ellipse">
            <a:avLst/>
          </a:prstGeom>
          <a:solidFill>
            <a:srgbClr val="0C2340"/>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txBox="1"/>
          <p:nvPr/>
        </p:nvSpPr>
        <p:spPr>
          <a:xfrm>
            <a:off x="1234440" y="4023360"/>
            <a:ext cx="2560320" cy="384048"/>
          </a:xfrm>
          <a:prstGeom prst="rect">
            <a:avLst/>
          </a:prstGeom>
          <a:noFill/>
          <a:ln/>
        </p:spPr>
        <p:txBody>
          <a:bodyPr wrap="square" lIns="0" tIns="0" rIns="0" bIns="0" rtlCol="0" anchor="ctr"/>
          <a:lstStyle/>
          <a:p>
            <a:pPr indent="0" marL="0">
              <a:buNone/>
            </a:pPr>
            <a:r>
              <a:rPr lang="en-US" sz="1700" b="1" dirty="0">
                <a:solidFill>
                  <a:srgbClr val="0C2340"/>
                </a:solidFill>
                <a:latin typeface="Cambria" pitchFamily="34" charset="0"/>
                <a:ea typeface="Cambria" pitchFamily="34" charset="-122"/>
                <a:cs typeface="Cambria" pitchFamily="34" charset="-120"/>
              </a:rPr>
              <a:t>H-number decoding</a:t>
            </a:r>
            <a:endParaRPr lang="en-US" sz="1700" dirty="0"/>
          </a:p>
        </p:txBody>
      </p:sp>
      <p:sp>
        <p:nvSpPr>
          <p:cNvPr id="23" name="Text 21"/>
          <p:cNvSpPr txBox="1"/>
          <p:nvPr/>
        </p:nvSpPr>
        <p:spPr>
          <a:xfrm>
            <a:off x="731520" y="4526280"/>
            <a:ext cx="3063240" cy="868680"/>
          </a:xfrm>
          <a:prstGeom prst="rect">
            <a:avLst/>
          </a:prstGeom>
          <a:noFill/>
          <a:ln/>
        </p:spPr>
        <p:txBody>
          <a:bodyPr wrap="square" lIns="0" tIns="0" rIns="0" bIns="0" rtlCol="0" anchor="t"/>
          <a:lstStyle/>
          <a:p>
            <a:pPr indent="0" marL="0">
              <a:buNone/>
            </a:pPr>
            <a:r>
              <a:rPr lang="en-US" sz="1400" dirty="0">
                <a:solidFill>
                  <a:srgbClr val="1A2130"/>
                </a:solidFill>
                <a:latin typeface="Calibri" pitchFamily="34" charset="0"/>
                <a:ea typeface="Calibri" pitchFamily="34" charset="-122"/>
                <a:cs typeface="Calibri" pitchFamily="34" charset="-120"/>
              </a:rPr>
              <a:t>The Python decoder turns "Section B, lot 20H" into H000001. It is the only source of H-numbers.</a:t>
            </a:r>
            <a:endParaRPr lang="en-US" sz="1400" dirty="0"/>
          </a:p>
        </p:txBody>
      </p:sp>
      <p:sp>
        <p:nvSpPr>
          <p:cNvPr id="24" name="Text 22"/>
          <p:cNvSpPr txBox="1"/>
          <p:nvPr/>
        </p:nvSpPr>
        <p:spPr>
          <a:xfrm>
            <a:off x="731520" y="5413248"/>
            <a:ext cx="3063240" cy="548640"/>
          </a:xfrm>
          <a:prstGeom prst="rect">
            <a:avLst/>
          </a:prstGeom>
          <a:noFill/>
          <a:ln/>
        </p:spPr>
        <p:txBody>
          <a:bodyPr wrap="square" lIns="0" tIns="0" rIns="0" bIns="0" rtlCol="0" anchor="t"/>
          <a:lstStyle/>
          <a:p>
            <a:pPr indent="0" marL="0">
              <a:buNone/>
            </a:pPr>
            <a:r>
              <a:rPr lang="en-US" sz="1300" i="1" dirty="0">
                <a:solidFill>
                  <a:srgbClr val="566274"/>
                </a:solidFill>
                <a:latin typeface="Calibri" pitchFamily="34" charset="0"/>
                <a:ea typeface="Calibri" pitchFamily="34" charset="-122"/>
                <a:cs typeface="Calibri" pitchFamily="34" charset="-120"/>
              </a:rPr>
              <a:t>Now: unchanged.</a:t>
            </a:r>
            <a:endParaRPr lang="en-US" sz="1300" dirty="0"/>
          </a:p>
        </p:txBody>
      </p:sp>
      <p:sp>
        <p:nvSpPr>
          <p:cNvPr id="25" name="Shape 23"/>
          <p:cNvSpPr/>
          <p:nvPr/>
        </p:nvSpPr>
        <p:spPr>
          <a:xfrm>
            <a:off x="4014216" y="4823460"/>
            <a:ext cx="320040" cy="274320"/>
          </a:xfrm>
          <a:prstGeom prst="rightArrow">
            <a:avLst/>
          </a:prstGeom>
          <a:solidFill>
            <a:srgbClr val="B8892F"/>
          </a:solidFill>
          <a:ln w="6350">
            <a:solidFill>
              <a:srgbClr val="B8892F"/>
            </a:solidFill>
            <a:prstDash val="solid"/>
          </a:ln>
        </p:spPr>
      </p:sp>
      <p:sp>
        <p:nvSpPr>
          <p:cNvPr id="26" name="Step card 5"/>
          <p:cNvSpPr/>
          <p:nvPr/>
        </p:nvSpPr>
        <p:spPr>
          <a:xfrm>
            <a:off x="4366260" y="3840480"/>
            <a:ext cx="3429000" cy="2240280"/>
          </a:xfrm>
          <a:prstGeom prst="rect">
            <a:avLst/>
          </a:prstGeom>
          <a:solidFill>
            <a:srgbClr val="F2F4F7"/>
          </a:solidFill>
          <a:ln w="9525">
            <a:solidFill>
              <a:srgbClr val="DDE3EA"/>
            </a:solidFill>
            <a:prstDash val="solid"/>
          </a:ln>
        </p:spPr>
      </p:sp>
      <p:sp>
        <p:nvSpPr>
          <p:cNvPr id="27" name="Text 25"/>
          <p:cNvSpPr/>
          <p:nvPr/>
        </p:nvSpPr>
        <p:spPr>
          <a:xfrm>
            <a:off x="4549140" y="4023360"/>
            <a:ext cx="384048" cy="384048"/>
          </a:xfrm>
          <a:prstGeom prst="ellipse">
            <a:avLst/>
          </a:prstGeom>
          <a:solidFill>
            <a:srgbClr val="0C2340"/>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8" name="Text 26"/>
          <p:cNvSpPr txBox="1"/>
          <p:nvPr/>
        </p:nvSpPr>
        <p:spPr>
          <a:xfrm>
            <a:off x="5052060" y="4023360"/>
            <a:ext cx="2560320" cy="384048"/>
          </a:xfrm>
          <a:prstGeom prst="rect">
            <a:avLst/>
          </a:prstGeom>
          <a:noFill/>
          <a:ln/>
        </p:spPr>
        <p:txBody>
          <a:bodyPr wrap="square" lIns="0" tIns="0" rIns="0" bIns="0" rtlCol="0" anchor="ctr"/>
          <a:lstStyle/>
          <a:p>
            <a:pPr indent="0" marL="0">
              <a:buNone/>
            </a:pPr>
            <a:r>
              <a:rPr lang="en-US" sz="1700" b="1" dirty="0">
                <a:solidFill>
                  <a:srgbClr val="0C2340"/>
                </a:solidFill>
                <a:latin typeface="Cambria" pitchFamily="34" charset="0"/>
                <a:ea typeface="Cambria" pitchFamily="34" charset="-122"/>
                <a:cs typeface="Cambria" pitchFamily="34" charset="-120"/>
              </a:rPr>
              <a:t>SVG rendering</a:t>
            </a:r>
            <a:endParaRPr lang="en-US" sz="1700" dirty="0"/>
          </a:p>
        </p:txBody>
      </p:sp>
      <p:sp>
        <p:nvSpPr>
          <p:cNvPr id="29" name="Text 27"/>
          <p:cNvSpPr txBox="1"/>
          <p:nvPr/>
        </p:nvSpPr>
        <p:spPr>
          <a:xfrm>
            <a:off x="4549140" y="4526280"/>
            <a:ext cx="3063240" cy="868680"/>
          </a:xfrm>
          <a:prstGeom prst="rect">
            <a:avLst/>
          </a:prstGeom>
          <a:noFill/>
          <a:ln/>
        </p:spPr>
        <p:txBody>
          <a:bodyPr wrap="square" lIns="0" tIns="0" rIns="0" bIns="0" rtlCol="0" anchor="t"/>
          <a:lstStyle/>
          <a:p>
            <a:pPr indent="0" marL="0">
              <a:buNone/>
            </a:pPr>
            <a:r>
              <a:rPr lang="en-US" sz="1400" dirty="0">
                <a:solidFill>
                  <a:srgbClr val="1A2130"/>
                </a:solidFill>
                <a:latin typeface="Calibri" pitchFamily="34" charset="0"/>
                <a:ea typeface="Calibri" pitchFamily="34" charset="-122"/>
                <a:cs typeface="Calibri" pitchFamily="34" charset="-120"/>
              </a:rPr>
              <a:t>The map is drawn as scalable shapes, so it stays sharp at any zoom and prints cleanly.</a:t>
            </a:r>
            <a:endParaRPr lang="en-US" sz="1400" dirty="0"/>
          </a:p>
        </p:txBody>
      </p:sp>
      <p:sp>
        <p:nvSpPr>
          <p:cNvPr id="30" name="Text 28"/>
          <p:cNvSpPr txBox="1"/>
          <p:nvPr/>
        </p:nvSpPr>
        <p:spPr>
          <a:xfrm>
            <a:off x="4549140" y="5413248"/>
            <a:ext cx="3063240" cy="548640"/>
          </a:xfrm>
          <a:prstGeom prst="rect">
            <a:avLst/>
          </a:prstGeom>
          <a:noFill/>
          <a:ln/>
        </p:spPr>
        <p:txBody>
          <a:bodyPr wrap="square" lIns="0" tIns="0" rIns="0" bIns="0" rtlCol="0" anchor="t"/>
          <a:lstStyle/>
          <a:p>
            <a:pPr indent="0" marL="0">
              <a:buNone/>
            </a:pPr>
            <a:r>
              <a:rPr lang="en-US" sz="1300" i="1" dirty="0">
                <a:solidFill>
                  <a:srgbClr val="566274"/>
                </a:solidFill>
                <a:latin typeface="Calibri" pitchFamily="34" charset="0"/>
                <a:ea typeface="Calibri" pitchFamily="34" charset="-122"/>
                <a:cs typeface="Calibri" pitchFamily="34" charset="-120"/>
              </a:rPr>
              <a:t>Now: each number is measured and fitted inside its lot.</a:t>
            </a:r>
            <a:endParaRPr lang="en-US" sz="1300" dirty="0"/>
          </a:p>
        </p:txBody>
      </p:sp>
      <p:sp>
        <p:nvSpPr>
          <p:cNvPr id="31" name="Shape 29"/>
          <p:cNvSpPr/>
          <p:nvPr/>
        </p:nvSpPr>
        <p:spPr>
          <a:xfrm>
            <a:off x="7831836" y="4823460"/>
            <a:ext cx="320040" cy="274320"/>
          </a:xfrm>
          <a:prstGeom prst="rightArrow">
            <a:avLst/>
          </a:prstGeom>
          <a:solidFill>
            <a:srgbClr val="B8892F"/>
          </a:solidFill>
          <a:ln w="6350">
            <a:solidFill>
              <a:srgbClr val="B8892F"/>
            </a:solidFill>
            <a:prstDash val="solid"/>
          </a:ln>
        </p:spPr>
      </p:sp>
      <p:sp>
        <p:nvSpPr>
          <p:cNvPr id="32" name="Step card 6"/>
          <p:cNvSpPr/>
          <p:nvPr/>
        </p:nvSpPr>
        <p:spPr>
          <a:xfrm>
            <a:off x="8183880" y="3840480"/>
            <a:ext cx="3429000" cy="2240280"/>
          </a:xfrm>
          <a:prstGeom prst="rect">
            <a:avLst/>
          </a:prstGeom>
          <a:solidFill>
            <a:srgbClr val="F2F4F7"/>
          </a:solidFill>
          <a:ln w="9525">
            <a:solidFill>
              <a:srgbClr val="DDE3EA"/>
            </a:solidFill>
            <a:prstDash val="solid"/>
          </a:ln>
        </p:spPr>
      </p:sp>
      <p:sp>
        <p:nvSpPr>
          <p:cNvPr id="33" name="Text 31"/>
          <p:cNvSpPr/>
          <p:nvPr/>
        </p:nvSpPr>
        <p:spPr>
          <a:xfrm>
            <a:off x="8366760" y="4023360"/>
            <a:ext cx="384048" cy="384048"/>
          </a:xfrm>
          <a:prstGeom prst="ellipse">
            <a:avLst/>
          </a:prstGeom>
          <a:solidFill>
            <a:srgbClr val="0C2340"/>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4" name="Text 32"/>
          <p:cNvSpPr txBox="1"/>
          <p:nvPr/>
        </p:nvSpPr>
        <p:spPr>
          <a:xfrm>
            <a:off x="8869680" y="4023360"/>
            <a:ext cx="2560320" cy="384048"/>
          </a:xfrm>
          <a:prstGeom prst="rect">
            <a:avLst/>
          </a:prstGeom>
          <a:noFill/>
          <a:ln/>
        </p:spPr>
        <p:txBody>
          <a:bodyPr wrap="square" lIns="0" tIns="0" rIns="0" bIns="0" rtlCol="0" anchor="ctr"/>
          <a:lstStyle/>
          <a:p>
            <a:pPr indent="0" marL="0">
              <a:buNone/>
            </a:pPr>
            <a:r>
              <a:rPr lang="en-US" sz="1700" b="1" dirty="0">
                <a:solidFill>
                  <a:srgbClr val="0C2340"/>
                </a:solidFill>
                <a:latin typeface="Cambria" pitchFamily="34" charset="0"/>
                <a:ea typeface="Cambria" pitchFamily="34" charset="-122"/>
                <a:cs typeface="Cambria" pitchFamily="34" charset="-120"/>
              </a:rPr>
              <a:t>Site and PDFs</a:t>
            </a:r>
            <a:endParaRPr lang="en-US" sz="1700" dirty="0"/>
          </a:p>
        </p:txBody>
      </p:sp>
      <p:sp>
        <p:nvSpPr>
          <p:cNvPr id="35" name="Text 33"/>
          <p:cNvSpPr txBox="1"/>
          <p:nvPr/>
        </p:nvSpPr>
        <p:spPr>
          <a:xfrm>
            <a:off x="8366760" y="4526280"/>
            <a:ext cx="3063240" cy="868680"/>
          </a:xfrm>
          <a:prstGeom prst="rect">
            <a:avLst/>
          </a:prstGeom>
          <a:noFill/>
          <a:ln/>
        </p:spPr>
        <p:txBody>
          <a:bodyPr wrap="square" lIns="0" tIns="0" rIns="0" bIns="0" rtlCol="0" anchor="t"/>
          <a:lstStyle/>
          <a:p>
            <a:pPr indent="0" marL="0">
              <a:buNone/>
            </a:pPr>
            <a:r>
              <a:rPr lang="en-US" sz="1400" dirty="0">
                <a:solidFill>
                  <a:srgbClr val="1A2130"/>
                </a:solidFill>
                <a:latin typeface="Calibri" pitchFamily="34" charset="0"/>
                <a:ea typeface="Calibri" pitchFamily="34" charset="-122"/>
                <a:cs typeface="Calibri" pitchFamily="34" charset="-120"/>
              </a:rPr>
              <a:t>The interactive site and the printable PDFs are generated from the same data.</a:t>
            </a:r>
            <a:endParaRPr lang="en-US" sz="1400" dirty="0"/>
          </a:p>
        </p:txBody>
      </p:sp>
      <p:sp>
        <p:nvSpPr>
          <p:cNvPr id="36" name="Text 34"/>
          <p:cNvSpPr txBox="1"/>
          <p:nvPr/>
        </p:nvSpPr>
        <p:spPr>
          <a:xfrm>
            <a:off x="8366760" y="5413248"/>
            <a:ext cx="3063240" cy="548640"/>
          </a:xfrm>
          <a:prstGeom prst="rect">
            <a:avLst/>
          </a:prstGeom>
          <a:noFill/>
          <a:ln/>
        </p:spPr>
        <p:txBody>
          <a:bodyPr wrap="square" lIns="0" tIns="0" rIns="0" bIns="0" rtlCol="0" anchor="t"/>
          <a:lstStyle/>
          <a:p>
            <a:pPr indent="0" marL="0">
              <a:buNone/>
            </a:pPr>
            <a:r>
              <a:rPr lang="en-US" sz="1300" i="1" dirty="0">
                <a:solidFill>
                  <a:srgbClr val="566274"/>
                </a:solidFill>
                <a:latin typeface="Calibri" pitchFamily="34" charset="0"/>
                <a:ea typeface="Calibri" pitchFamily="34" charset="-122"/>
                <a:cs typeface="Calibri" pitchFamily="34" charset="-120"/>
              </a:rPr>
              <a:t>Now: rebuilt, with lot panels and review states.</a:t>
            </a:r>
            <a:endParaRPr lang="en-US" sz="13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274"/>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C2340"/>
                </a:solidFill>
                <a:latin typeface="Cambria" pitchFamily="34" charset="0"/>
                <a:ea typeface="Cambria" pitchFamily="34" charset="-122"/>
                <a:cs typeface="Cambria" pitchFamily="34" charset="-120"/>
              </a:rPr>
              <a:t>Tools and technical work, in plain terms</a:t>
            </a:r>
            <a:endParaRPr lang="en-US" sz="3000" dirty="0"/>
          </a:p>
        </p:txBody>
      </p:sp>
      <p:sp>
        <p:nvSpPr>
          <p:cNvPr id="3" name="Tool card 1"/>
          <p:cNvSpPr/>
          <p:nvPr/>
        </p:nvSpPr>
        <p:spPr>
          <a:xfrm>
            <a:off x="548640" y="1325880"/>
            <a:ext cx="2606040" cy="1783080"/>
          </a:xfrm>
          <a:prstGeom prst="rect">
            <a:avLst/>
          </a:prstGeom>
          <a:solidFill>
            <a:srgbClr val="F2F4F7"/>
          </a:solidFill>
          <a:ln w="9525">
            <a:solidFill>
              <a:srgbClr val="DDE3EA"/>
            </a:solidFill>
            <a:prstDash val="solid"/>
          </a:ln>
        </p:spPr>
      </p:sp>
      <p:sp>
        <p:nvSpPr>
          <p:cNvPr id="4" name="Text 2"/>
          <p:cNvSpPr txBox="1"/>
          <p:nvPr/>
        </p:nvSpPr>
        <p:spPr>
          <a:xfrm>
            <a:off x="731520" y="1463040"/>
            <a:ext cx="2240280" cy="457200"/>
          </a:xfrm>
          <a:prstGeom prst="rect">
            <a:avLst/>
          </a:prstGeom>
          <a:noFill/>
          <a:ln/>
        </p:spPr>
        <p:txBody>
          <a:bodyPr wrap="square" lIns="0" tIns="0" rIns="0" bIns="0" rtlCol="0" anchor="ctr"/>
          <a:lstStyle/>
          <a:p>
            <a:pPr indent="0" marL="0">
              <a:buNone/>
            </a:pPr>
            <a:r>
              <a:rPr lang="en-US" sz="1600" b="1" dirty="0">
                <a:solidFill>
                  <a:srgbClr val="0C2340"/>
                </a:solidFill>
                <a:latin typeface="Cambria" pitchFamily="34" charset="0"/>
                <a:ea typeface="Cambria" pitchFamily="34" charset="-122"/>
                <a:cs typeface="Cambria" pitchFamily="34" charset="-120"/>
              </a:rPr>
              <a:t>Python 3</a:t>
            </a:r>
            <a:endParaRPr lang="en-US" sz="1600" dirty="0"/>
          </a:p>
        </p:txBody>
      </p:sp>
      <p:sp>
        <p:nvSpPr>
          <p:cNvPr id="5" name="Text 3"/>
          <p:cNvSpPr txBox="1"/>
          <p:nvPr/>
        </p:nvSpPr>
        <p:spPr>
          <a:xfrm>
            <a:off x="731520" y="1965960"/>
            <a:ext cx="2240280" cy="1051560"/>
          </a:xfrm>
          <a:prstGeom prst="rect">
            <a:avLst/>
          </a:prstGeom>
          <a:noFill/>
          <a:ln/>
        </p:spPr>
        <p:txBody>
          <a:bodyPr wrap="square" lIns="0" tIns="0" rIns="0" bIns="0" rtlCol="0" anchor="t"/>
          <a:lstStyle/>
          <a:p>
            <a:pPr indent="0" marL="0">
              <a:buNone/>
            </a:pPr>
            <a:r>
              <a:rPr lang="en-US" sz="1400" dirty="0">
                <a:solidFill>
                  <a:srgbClr val="1A2130"/>
                </a:solidFill>
                <a:latin typeface="Calibri" pitchFamily="34" charset="0"/>
                <a:ea typeface="Calibri" pitchFamily="34" charset="-122"/>
                <a:cs typeface="Calibri" pitchFamily="34" charset="-120"/>
              </a:rPr>
              <a:t>Runs the whole build, from the drawing to the finished site, with one command.</a:t>
            </a:r>
            <a:endParaRPr lang="en-US" sz="1400" dirty="0"/>
          </a:p>
        </p:txBody>
      </p:sp>
      <p:sp>
        <p:nvSpPr>
          <p:cNvPr id="6" name="Tool card 2"/>
          <p:cNvSpPr/>
          <p:nvPr/>
        </p:nvSpPr>
        <p:spPr>
          <a:xfrm>
            <a:off x="3367735" y="1325880"/>
            <a:ext cx="2606040" cy="1783080"/>
          </a:xfrm>
          <a:prstGeom prst="rect">
            <a:avLst/>
          </a:prstGeom>
          <a:solidFill>
            <a:srgbClr val="F2F4F7"/>
          </a:solidFill>
          <a:ln w="9525">
            <a:solidFill>
              <a:srgbClr val="DDE3EA"/>
            </a:solidFill>
            <a:prstDash val="solid"/>
          </a:ln>
        </p:spPr>
      </p:sp>
      <p:sp>
        <p:nvSpPr>
          <p:cNvPr id="7" name="Text 5"/>
          <p:cNvSpPr txBox="1"/>
          <p:nvPr/>
        </p:nvSpPr>
        <p:spPr>
          <a:xfrm>
            <a:off x="3550615" y="1463040"/>
            <a:ext cx="2240280" cy="457200"/>
          </a:xfrm>
          <a:prstGeom prst="rect">
            <a:avLst/>
          </a:prstGeom>
          <a:noFill/>
          <a:ln/>
        </p:spPr>
        <p:txBody>
          <a:bodyPr wrap="square" lIns="0" tIns="0" rIns="0" bIns="0" rtlCol="0" anchor="ctr"/>
          <a:lstStyle/>
          <a:p>
            <a:pPr indent="0" marL="0">
              <a:buNone/>
            </a:pPr>
            <a:r>
              <a:rPr lang="en-US" sz="1600" b="1" dirty="0">
                <a:solidFill>
                  <a:srgbClr val="0C2340"/>
                </a:solidFill>
                <a:latin typeface="Cambria" pitchFamily="34" charset="0"/>
                <a:ea typeface="Cambria" pitchFamily="34" charset="-122"/>
                <a:cs typeface="Cambria" pitchFamily="34" charset="-120"/>
              </a:rPr>
              <a:t>PyMuPDF</a:t>
            </a:r>
            <a:endParaRPr lang="en-US" sz="1600" dirty="0"/>
          </a:p>
        </p:txBody>
      </p:sp>
      <p:sp>
        <p:nvSpPr>
          <p:cNvPr id="8" name="Text 6"/>
          <p:cNvSpPr txBox="1"/>
          <p:nvPr/>
        </p:nvSpPr>
        <p:spPr>
          <a:xfrm>
            <a:off x="3550615" y="1965960"/>
            <a:ext cx="2240280" cy="1051560"/>
          </a:xfrm>
          <a:prstGeom prst="rect">
            <a:avLst/>
          </a:prstGeom>
          <a:noFill/>
          <a:ln/>
        </p:spPr>
        <p:txBody>
          <a:bodyPr wrap="square" lIns="0" tIns="0" rIns="0" bIns="0" rtlCol="0" anchor="t"/>
          <a:lstStyle/>
          <a:p>
            <a:pPr indent="0" marL="0">
              <a:buNone/>
            </a:pPr>
            <a:r>
              <a:rPr lang="en-US" sz="1400" dirty="0">
                <a:solidFill>
                  <a:srgbClr val="1A2130"/>
                </a:solidFill>
                <a:latin typeface="Calibri" pitchFamily="34" charset="0"/>
                <a:ea typeface="Calibri" pitchFamily="34" charset="-122"/>
                <a:cs typeface="Calibri" pitchFamily="34" charset="-120"/>
              </a:rPr>
              <a:t>Reads the lines and text out of the drawing, and writes the PDFs.</a:t>
            </a:r>
            <a:endParaRPr lang="en-US" sz="1400" dirty="0"/>
          </a:p>
        </p:txBody>
      </p:sp>
      <p:sp>
        <p:nvSpPr>
          <p:cNvPr id="9" name="Tool card 3"/>
          <p:cNvSpPr/>
          <p:nvPr/>
        </p:nvSpPr>
        <p:spPr>
          <a:xfrm>
            <a:off x="6186830" y="1325880"/>
            <a:ext cx="2606040" cy="1783080"/>
          </a:xfrm>
          <a:prstGeom prst="rect">
            <a:avLst/>
          </a:prstGeom>
          <a:solidFill>
            <a:srgbClr val="F2F4F7"/>
          </a:solidFill>
          <a:ln w="9525">
            <a:solidFill>
              <a:srgbClr val="DDE3EA"/>
            </a:solidFill>
            <a:prstDash val="solid"/>
          </a:ln>
        </p:spPr>
      </p:sp>
      <p:sp>
        <p:nvSpPr>
          <p:cNvPr id="10" name="Text 8"/>
          <p:cNvSpPr txBox="1"/>
          <p:nvPr/>
        </p:nvSpPr>
        <p:spPr>
          <a:xfrm>
            <a:off x="6369710" y="1463040"/>
            <a:ext cx="2240280" cy="457200"/>
          </a:xfrm>
          <a:prstGeom prst="rect">
            <a:avLst/>
          </a:prstGeom>
          <a:noFill/>
          <a:ln/>
        </p:spPr>
        <p:txBody>
          <a:bodyPr wrap="square" lIns="0" tIns="0" rIns="0" bIns="0" rtlCol="0" anchor="ctr"/>
          <a:lstStyle/>
          <a:p>
            <a:pPr indent="0" marL="0">
              <a:buNone/>
            </a:pPr>
            <a:r>
              <a:rPr lang="en-US" sz="1600" b="1" dirty="0">
                <a:solidFill>
                  <a:srgbClr val="0C2340"/>
                </a:solidFill>
                <a:latin typeface="Cambria" pitchFamily="34" charset="0"/>
                <a:ea typeface="Cambria" pitchFamily="34" charset="-122"/>
                <a:cs typeface="Cambria" pitchFamily="34" charset="-120"/>
              </a:rPr>
              <a:t>OpenCV, NumPy, SciPy</a:t>
            </a:r>
            <a:endParaRPr lang="en-US" sz="1600" dirty="0"/>
          </a:p>
        </p:txBody>
      </p:sp>
      <p:sp>
        <p:nvSpPr>
          <p:cNvPr id="11" name="Text 9"/>
          <p:cNvSpPr txBox="1"/>
          <p:nvPr/>
        </p:nvSpPr>
        <p:spPr>
          <a:xfrm>
            <a:off x="6369710" y="1965960"/>
            <a:ext cx="2240280" cy="1051560"/>
          </a:xfrm>
          <a:prstGeom prst="rect">
            <a:avLst/>
          </a:prstGeom>
          <a:noFill/>
          <a:ln/>
        </p:spPr>
        <p:txBody>
          <a:bodyPr wrap="square" lIns="0" tIns="0" rIns="0" bIns="0" rtlCol="0" anchor="t"/>
          <a:lstStyle/>
          <a:p>
            <a:pPr indent="0" marL="0">
              <a:buNone/>
            </a:pPr>
            <a:r>
              <a:rPr lang="en-US" sz="1400" dirty="0">
                <a:solidFill>
                  <a:srgbClr val="1A2130"/>
                </a:solidFill>
                <a:latin typeface="Calibri" pitchFamily="34" charset="0"/>
                <a:ea typeface="Calibri" pitchFamily="34" charset="-122"/>
                <a:cs typeface="Calibri" pitchFamily="34" charset="-120"/>
              </a:rPr>
              <a:t>Find each lot's outline and match positions between the two drawings.</a:t>
            </a:r>
            <a:endParaRPr lang="en-US" sz="1400" dirty="0"/>
          </a:p>
        </p:txBody>
      </p:sp>
      <p:sp>
        <p:nvSpPr>
          <p:cNvPr id="12" name="Tool card 4"/>
          <p:cNvSpPr/>
          <p:nvPr/>
        </p:nvSpPr>
        <p:spPr>
          <a:xfrm>
            <a:off x="9005926" y="1325880"/>
            <a:ext cx="2606040" cy="1783080"/>
          </a:xfrm>
          <a:prstGeom prst="rect">
            <a:avLst/>
          </a:prstGeom>
          <a:solidFill>
            <a:srgbClr val="F2F4F7"/>
          </a:solidFill>
          <a:ln w="9525">
            <a:solidFill>
              <a:srgbClr val="DDE3EA"/>
            </a:solidFill>
            <a:prstDash val="solid"/>
          </a:ln>
        </p:spPr>
      </p:sp>
      <p:sp>
        <p:nvSpPr>
          <p:cNvPr id="13" name="Text 11"/>
          <p:cNvSpPr txBox="1"/>
          <p:nvPr/>
        </p:nvSpPr>
        <p:spPr>
          <a:xfrm>
            <a:off x="9188806" y="1463040"/>
            <a:ext cx="2240280" cy="457200"/>
          </a:xfrm>
          <a:prstGeom prst="rect">
            <a:avLst/>
          </a:prstGeom>
          <a:noFill/>
          <a:ln/>
        </p:spPr>
        <p:txBody>
          <a:bodyPr wrap="square" lIns="0" tIns="0" rIns="0" bIns="0" rtlCol="0" anchor="ctr"/>
          <a:lstStyle/>
          <a:p>
            <a:pPr indent="0" marL="0">
              <a:buNone/>
            </a:pPr>
            <a:r>
              <a:rPr lang="en-US" sz="1600" b="1" dirty="0">
                <a:solidFill>
                  <a:srgbClr val="0C2340"/>
                </a:solidFill>
                <a:latin typeface="Cambria" pitchFamily="34" charset="0"/>
                <a:ea typeface="Cambria" pitchFamily="34" charset="-122"/>
                <a:cs typeface="Cambria" pitchFamily="34" charset="-120"/>
              </a:rPr>
              <a:t>Shapely</a:t>
            </a:r>
            <a:endParaRPr lang="en-US" sz="1600" dirty="0"/>
          </a:p>
        </p:txBody>
      </p:sp>
      <p:sp>
        <p:nvSpPr>
          <p:cNvPr id="14" name="Text 12"/>
          <p:cNvSpPr txBox="1"/>
          <p:nvPr/>
        </p:nvSpPr>
        <p:spPr>
          <a:xfrm>
            <a:off x="9188806" y="1965960"/>
            <a:ext cx="2240280" cy="1051560"/>
          </a:xfrm>
          <a:prstGeom prst="rect">
            <a:avLst/>
          </a:prstGeom>
          <a:noFill/>
          <a:ln/>
        </p:spPr>
        <p:txBody>
          <a:bodyPr wrap="square" lIns="0" tIns="0" rIns="0" bIns="0" rtlCol="0" anchor="t"/>
          <a:lstStyle/>
          <a:p>
            <a:pPr indent="0" marL="0">
              <a:buNone/>
            </a:pPr>
            <a:r>
              <a:rPr lang="en-US" sz="1400" dirty="0">
                <a:solidFill>
                  <a:srgbClr val="1A2130"/>
                </a:solidFill>
                <a:latin typeface="Calibri" pitchFamily="34" charset="0"/>
                <a:ea typeface="Calibri" pitchFamily="34" charset="-122"/>
                <a:cs typeface="Calibri" pitchFamily="34" charset="-120"/>
              </a:rPr>
              <a:t>Geometry maths that keeps every number inside its own lot.</a:t>
            </a:r>
            <a:endParaRPr lang="en-US" sz="1400" dirty="0"/>
          </a:p>
        </p:txBody>
      </p:sp>
      <p:sp>
        <p:nvSpPr>
          <p:cNvPr id="15" name="Tool card 5"/>
          <p:cNvSpPr/>
          <p:nvPr/>
        </p:nvSpPr>
        <p:spPr>
          <a:xfrm>
            <a:off x="548640" y="3337560"/>
            <a:ext cx="2606040" cy="1783080"/>
          </a:xfrm>
          <a:prstGeom prst="rect">
            <a:avLst/>
          </a:prstGeom>
          <a:solidFill>
            <a:srgbClr val="F2F4F7"/>
          </a:solidFill>
          <a:ln w="9525">
            <a:solidFill>
              <a:srgbClr val="DDE3EA"/>
            </a:solidFill>
            <a:prstDash val="solid"/>
          </a:ln>
        </p:spPr>
      </p:sp>
      <p:sp>
        <p:nvSpPr>
          <p:cNvPr id="16" name="Text 14"/>
          <p:cNvSpPr txBox="1"/>
          <p:nvPr/>
        </p:nvSpPr>
        <p:spPr>
          <a:xfrm>
            <a:off x="731520" y="3474720"/>
            <a:ext cx="2240280" cy="457200"/>
          </a:xfrm>
          <a:prstGeom prst="rect">
            <a:avLst/>
          </a:prstGeom>
          <a:noFill/>
          <a:ln/>
        </p:spPr>
        <p:txBody>
          <a:bodyPr wrap="square" lIns="0" tIns="0" rIns="0" bIns="0" rtlCol="0" anchor="ctr"/>
          <a:lstStyle/>
          <a:p>
            <a:pPr indent="0" marL="0">
              <a:buNone/>
            </a:pPr>
            <a:r>
              <a:rPr lang="en-US" sz="1600" b="1" dirty="0">
                <a:solidFill>
                  <a:srgbClr val="0C2340"/>
                </a:solidFill>
                <a:latin typeface="Cambria" pitchFamily="34" charset="0"/>
                <a:ea typeface="Cambria" pitchFamily="34" charset="-122"/>
                <a:cs typeface="Cambria" pitchFamily="34" charset="-120"/>
              </a:rPr>
              <a:t>s4decoder1.py</a:t>
            </a:r>
            <a:endParaRPr lang="en-US" sz="1600" dirty="0"/>
          </a:p>
        </p:txBody>
      </p:sp>
      <p:sp>
        <p:nvSpPr>
          <p:cNvPr id="17" name="Text 15"/>
          <p:cNvSpPr txBox="1"/>
          <p:nvPr/>
        </p:nvSpPr>
        <p:spPr>
          <a:xfrm>
            <a:off x="731520" y="3977640"/>
            <a:ext cx="2240280" cy="1051560"/>
          </a:xfrm>
          <a:prstGeom prst="rect">
            <a:avLst/>
          </a:prstGeom>
          <a:noFill/>
          <a:ln/>
        </p:spPr>
        <p:txBody>
          <a:bodyPr wrap="square" lIns="0" tIns="0" rIns="0" bIns="0" rtlCol="0" anchor="t"/>
          <a:lstStyle/>
          <a:p>
            <a:pPr indent="0" marL="0">
              <a:buNone/>
            </a:pPr>
            <a:r>
              <a:rPr lang="en-US" sz="1400" dirty="0">
                <a:solidFill>
                  <a:srgbClr val="1A2130"/>
                </a:solidFill>
                <a:latin typeface="Calibri" pitchFamily="34" charset="0"/>
                <a:ea typeface="Calibri" pitchFamily="34" charset="-122"/>
                <a:cs typeface="Calibri" pitchFamily="34" charset="-120"/>
              </a:rPr>
              <a:t>The decoder: legacy lot label in, H-number out.</a:t>
            </a:r>
            <a:endParaRPr lang="en-US" sz="1400" dirty="0"/>
          </a:p>
        </p:txBody>
      </p:sp>
      <p:sp>
        <p:nvSpPr>
          <p:cNvPr id="18" name="Tool card 6"/>
          <p:cNvSpPr/>
          <p:nvPr/>
        </p:nvSpPr>
        <p:spPr>
          <a:xfrm>
            <a:off x="3367735" y="3337560"/>
            <a:ext cx="2606040" cy="1783080"/>
          </a:xfrm>
          <a:prstGeom prst="rect">
            <a:avLst/>
          </a:prstGeom>
          <a:solidFill>
            <a:srgbClr val="F2F4F7"/>
          </a:solidFill>
          <a:ln w="9525">
            <a:solidFill>
              <a:srgbClr val="DDE3EA"/>
            </a:solidFill>
            <a:prstDash val="solid"/>
          </a:ln>
        </p:spPr>
      </p:sp>
      <p:sp>
        <p:nvSpPr>
          <p:cNvPr id="19" name="Text 17"/>
          <p:cNvSpPr txBox="1"/>
          <p:nvPr/>
        </p:nvSpPr>
        <p:spPr>
          <a:xfrm>
            <a:off x="3550615" y="3474720"/>
            <a:ext cx="2240280" cy="457200"/>
          </a:xfrm>
          <a:prstGeom prst="rect">
            <a:avLst/>
          </a:prstGeom>
          <a:noFill/>
          <a:ln/>
        </p:spPr>
        <p:txBody>
          <a:bodyPr wrap="square" lIns="0" tIns="0" rIns="0" bIns="0" rtlCol="0" anchor="ctr"/>
          <a:lstStyle/>
          <a:p>
            <a:pPr indent="0" marL="0">
              <a:buNone/>
            </a:pPr>
            <a:r>
              <a:rPr lang="en-US" sz="1600" b="1" dirty="0">
                <a:solidFill>
                  <a:srgbClr val="0C2340"/>
                </a:solidFill>
                <a:latin typeface="Cambria" pitchFamily="34" charset="0"/>
                <a:ea typeface="Cambria" pitchFamily="34" charset="-122"/>
                <a:cs typeface="Cambria" pitchFamily="34" charset="-120"/>
              </a:rPr>
              <a:t>SVG and plain JavaScript</a:t>
            </a:r>
            <a:endParaRPr lang="en-US" sz="1600" dirty="0"/>
          </a:p>
        </p:txBody>
      </p:sp>
      <p:sp>
        <p:nvSpPr>
          <p:cNvPr id="20" name="Text 18"/>
          <p:cNvSpPr txBox="1"/>
          <p:nvPr/>
        </p:nvSpPr>
        <p:spPr>
          <a:xfrm>
            <a:off x="3550615" y="3977640"/>
            <a:ext cx="2240280" cy="1051560"/>
          </a:xfrm>
          <a:prstGeom prst="rect">
            <a:avLst/>
          </a:prstGeom>
          <a:noFill/>
          <a:ln/>
        </p:spPr>
        <p:txBody>
          <a:bodyPr wrap="square" lIns="0" tIns="0" rIns="0" bIns="0" rtlCol="0" anchor="t"/>
          <a:lstStyle/>
          <a:p>
            <a:pPr indent="0" marL="0">
              <a:buNone/>
            </a:pPr>
            <a:r>
              <a:rPr lang="en-US" sz="1400" dirty="0">
                <a:solidFill>
                  <a:srgbClr val="1A2130"/>
                </a:solidFill>
                <a:latin typeface="Calibri" pitchFamily="34" charset="0"/>
                <a:ea typeface="Calibri" pitchFamily="34" charset="-122"/>
                <a:cs typeface="Calibri" pitchFamily="34" charset="-120"/>
              </a:rPr>
              <a:t>The interactive map. Stays sharp when zoomed and needs no add-ons.</a:t>
            </a:r>
            <a:endParaRPr lang="en-US" sz="1400" dirty="0"/>
          </a:p>
        </p:txBody>
      </p:sp>
      <p:sp>
        <p:nvSpPr>
          <p:cNvPr id="21" name="Tool card 7"/>
          <p:cNvSpPr/>
          <p:nvPr/>
        </p:nvSpPr>
        <p:spPr>
          <a:xfrm>
            <a:off x="6186830" y="3337560"/>
            <a:ext cx="2606040" cy="1783080"/>
          </a:xfrm>
          <a:prstGeom prst="rect">
            <a:avLst/>
          </a:prstGeom>
          <a:solidFill>
            <a:srgbClr val="F2F4F7"/>
          </a:solidFill>
          <a:ln w="9525">
            <a:solidFill>
              <a:srgbClr val="DDE3EA"/>
            </a:solidFill>
            <a:prstDash val="solid"/>
          </a:ln>
        </p:spPr>
      </p:sp>
      <p:sp>
        <p:nvSpPr>
          <p:cNvPr id="22" name="Text 20"/>
          <p:cNvSpPr txBox="1"/>
          <p:nvPr/>
        </p:nvSpPr>
        <p:spPr>
          <a:xfrm>
            <a:off x="6369710" y="3474720"/>
            <a:ext cx="2240280" cy="457200"/>
          </a:xfrm>
          <a:prstGeom prst="rect">
            <a:avLst/>
          </a:prstGeom>
          <a:noFill/>
          <a:ln/>
        </p:spPr>
        <p:txBody>
          <a:bodyPr wrap="square" lIns="0" tIns="0" rIns="0" bIns="0" rtlCol="0" anchor="ctr"/>
          <a:lstStyle/>
          <a:p>
            <a:pPr indent="0" marL="0">
              <a:buNone/>
            </a:pPr>
            <a:r>
              <a:rPr lang="en-US" sz="1600" b="1" dirty="0">
                <a:solidFill>
                  <a:srgbClr val="0C2340"/>
                </a:solidFill>
                <a:latin typeface="Cambria" pitchFamily="34" charset="0"/>
                <a:ea typeface="Cambria" pitchFamily="34" charset="-122"/>
                <a:cs typeface="Cambria" pitchFamily="34" charset="-120"/>
              </a:rPr>
              <a:t>Playwright and Chromium</a:t>
            </a:r>
            <a:endParaRPr lang="en-US" sz="1600" dirty="0"/>
          </a:p>
        </p:txBody>
      </p:sp>
      <p:sp>
        <p:nvSpPr>
          <p:cNvPr id="23" name="Text 21"/>
          <p:cNvSpPr txBox="1"/>
          <p:nvPr/>
        </p:nvSpPr>
        <p:spPr>
          <a:xfrm>
            <a:off x="6369710" y="3977640"/>
            <a:ext cx="2240280" cy="1051560"/>
          </a:xfrm>
          <a:prstGeom prst="rect">
            <a:avLst/>
          </a:prstGeom>
          <a:noFill/>
          <a:ln/>
        </p:spPr>
        <p:txBody>
          <a:bodyPr wrap="square" lIns="0" tIns="0" rIns="0" bIns="0" rtlCol="0" anchor="t"/>
          <a:lstStyle/>
          <a:p>
            <a:pPr indent="0" marL="0">
              <a:buNone/>
            </a:pPr>
            <a:r>
              <a:rPr lang="en-US" sz="1400" dirty="0">
                <a:solidFill>
                  <a:srgbClr val="1A2130"/>
                </a:solidFill>
                <a:latin typeface="Calibri" pitchFamily="34" charset="0"/>
                <a:ea typeface="Calibri" pitchFamily="34" charset="-122"/>
                <a:cs typeface="Calibri" pitchFamily="34" charset="-120"/>
              </a:rPr>
              <a:t>Take the screenshots and run the automatic checks in a real browser.</a:t>
            </a:r>
            <a:endParaRPr lang="en-US" sz="1400" dirty="0"/>
          </a:p>
        </p:txBody>
      </p:sp>
      <p:sp>
        <p:nvSpPr>
          <p:cNvPr id="24" name="Tool card 8"/>
          <p:cNvSpPr/>
          <p:nvPr/>
        </p:nvSpPr>
        <p:spPr>
          <a:xfrm>
            <a:off x="9005926" y="3337560"/>
            <a:ext cx="2606040" cy="1783080"/>
          </a:xfrm>
          <a:prstGeom prst="rect">
            <a:avLst/>
          </a:prstGeom>
          <a:solidFill>
            <a:srgbClr val="F2F4F7"/>
          </a:solidFill>
          <a:ln w="9525">
            <a:solidFill>
              <a:srgbClr val="DDE3EA"/>
            </a:solidFill>
            <a:prstDash val="solid"/>
          </a:ln>
        </p:spPr>
      </p:sp>
      <p:sp>
        <p:nvSpPr>
          <p:cNvPr id="25" name="Text 23"/>
          <p:cNvSpPr txBox="1"/>
          <p:nvPr/>
        </p:nvSpPr>
        <p:spPr>
          <a:xfrm>
            <a:off x="9188806" y="3474720"/>
            <a:ext cx="2240280" cy="457200"/>
          </a:xfrm>
          <a:prstGeom prst="rect">
            <a:avLst/>
          </a:prstGeom>
          <a:noFill/>
          <a:ln/>
        </p:spPr>
        <p:txBody>
          <a:bodyPr wrap="square" lIns="0" tIns="0" rIns="0" bIns="0" rtlCol="0" anchor="ctr"/>
          <a:lstStyle/>
          <a:p>
            <a:pPr indent="0" marL="0">
              <a:buNone/>
            </a:pPr>
            <a:r>
              <a:rPr lang="en-US" sz="1600" b="1" dirty="0">
                <a:solidFill>
                  <a:srgbClr val="0C2340"/>
                </a:solidFill>
                <a:latin typeface="Cambria" pitchFamily="34" charset="0"/>
                <a:ea typeface="Cambria" pitchFamily="34" charset="-122"/>
                <a:cs typeface="Cambria" pitchFamily="34" charset="-120"/>
              </a:rPr>
              <a:t>Shared database (Artifact)</a:t>
            </a:r>
            <a:endParaRPr lang="en-US" sz="1600" dirty="0"/>
          </a:p>
        </p:txBody>
      </p:sp>
      <p:sp>
        <p:nvSpPr>
          <p:cNvPr id="26" name="Text 24"/>
          <p:cNvSpPr txBox="1"/>
          <p:nvPr/>
        </p:nvSpPr>
        <p:spPr>
          <a:xfrm>
            <a:off x="9188806" y="3977640"/>
            <a:ext cx="2240280" cy="1051560"/>
          </a:xfrm>
          <a:prstGeom prst="rect">
            <a:avLst/>
          </a:prstGeom>
          <a:noFill/>
          <a:ln/>
        </p:spPr>
        <p:txBody>
          <a:bodyPr wrap="square" lIns="0" tIns="0" rIns="0" bIns="0" rtlCol="0" anchor="t"/>
          <a:lstStyle/>
          <a:p>
            <a:pPr indent="0" marL="0">
              <a:buNone/>
            </a:pPr>
            <a:r>
              <a:rPr lang="en-US" sz="1400" dirty="0">
                <a:solidFill>
                  <a:srgbClr val="1A2130"/>
                </a:solidFill>
                <a:latin typeface="Calibri" pitchFamily="34" charset="0"/>
                <a:ea typeface="Calibri" pitchFamily="34" charset="-122"/>
                <a:cs typeface="Calibri" pitchFamily="34" charset="-120"/>
              </a:rPr>
              <a:t>Stores grave records. Only people with edit access can write.</a:t>
            </a:r>
            <a:endParaRPr lang="en-US" sz="1400" dirty="0"/>
          </a:p>
        </p:txBody>
      </p:sp>
      <p:sp>
        <p:nvSpPr>
          <p:cNvPr id="27" name="Text 25"/>
          <p:cNvSpPr txBox="1"/>
          <p:nvPr/>
        </p:nvSpPr>
        <p:spPr>
          <a:xfrm>
            <a:off x="548640" y="5349240"/>
            <a:ext cx="11064240" cy="411480"/>
          </a:xfrm>
          <a:prstGeom prst="rect">
            <a:avLst/>
          </a:prstGeom>
          <a:noFill/>
          <a:ln/>
        </p:spPr>
        <p:txBody>
          <a:bodyPr wrap="square" lIns="0" tIns="0" rIns="0" bIns="0" rtlCol="0" anchor="ctr"/>
          <a:lstStyle/>
          <a:p>
            <a:pPr indent="0" marL="0">
              <a:buNone/>
            </a:pPr>
            <a:r>
              <a:rPr lang="en-US" sz="1400" b="1" dirty="0">
                <a:solidFill>
                  <a:srgbClr val="0C2340"/>
                </a:solidFill>
                <a:latin typeface="Calibri" pitchFamily="34" charset="0"/>
                <a:ea typeface="Calibri" pitchFamily="34" charset="-122"/>
                <a:cs typeface="Calibri" pitchFamily="34" charset="-120"/>
              </a:rPr>
              <a:t>Data formats: </a:t>
            </a:r>
            <a:pPr indent="0" marL="0">
              <a:buNone/>
            </a:pPr>
            <a:r>
              <a:rPr lang="en-US" sz="1400" dirty="0">
                <a:solidFill>
                  <a:srgbClr val="1A2130"/>
                </a:solidFill>
                <a:latin typeface="Calibri" pitchFamily="34" charset="0"/>
                <a:ea typeface="Calibri" pitchFamily="34" charset="-122"/>
                <a:cs typeface="Calibri" pitchFamily="34" charset="-120"/>
              </a:rPr>
              <a:t>.ai / PDF (source drawing)  &gt;  JSON (working data)  &gt;  SVG (map), PDF (print), CSV (lists and imports). Excel (.xlsx) import is built but not yet tested.</a:t>
            </a:r>
            <a:endParaRPr lang="en-US" sz="1400" dirty="0"/>
          </a:p>
        </p:txBody>
      </p:sp>
      <p:sp>
        <p:nvSpPr>
          <p:cNvPr id="28" name="Text 26"/>
          <p:cNvSpPr txBox="1"/>
          <p:nvPr/>
        </p:nvSpPr>
        <p:spPr>
          <a:xfrm>
            <a:off x="548640" y="5806440"/>
            <a:ext cx="11064240" cy="457200"/>
          </a:xfrm>
          <a:prstGeom prst="rect">
            <a:avLst/>
          </a:prstGeom>
          <a:noFill/>
          <a:ln/>
        </p:spPr>
        <p:txBody>
          <a:bodyPr wrap="square" lIns="0" tIns="0" rIns="0" bIns="0" rtlCol="0" anchor="ctr"/>
          <a:lstStyle/>
          <a:p>
            <a:pPr indent="0" marL="0">
              <a:buNone/>
            </a:pPr>
            <a:r>
              <a:rPr lang="en-US" sz="1400" b="1" dirty="0">
                <a:solidFill>
                  <a:srgbClr val="0C2340"/>
                </a:solidFill>
                <a:latin typeface="Calibri" pitchFamily="34" charset="0"/>
                <a:ea typeface="Calibri" pitchFamily="34" charset="-122"/>
                <a:cs typeface="Calibri" pitchFamily="34" charset="-120"/>
              </a:rPr>
              <a:t>Automatic checks: </a:t>
            </a:r>
            <a:pPr indent="0" marL="0">
              <a:buNone/>
            </a:pPr>
            <a:r>
              <a:rPr lang="en-US" sz="1400" dirty="0">
                <a:solidFill>
                  <a:srgbClr val="1A2130"/>
                </a:solidFill>
                <a:latin typeface="Calibri" pitchFamily="34" charset="0"/>
                <a:ea typeface="Calibri" pitchFamily="34" charset="-122"/>
                <a:cs typeface="Calibri" pitchFamily="34" charset="-120"/>
              </a:rPr>
              <a:t>every number lies inside its lot (3,103 of 3,103); 0 of 773,021 number pixels touch a lot line on screen, and 0 of 1.74 million in the PDF.</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274"/>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C2340"/>
                </a:solidFill>
                <a:latin typeface="Cambria" pitchFamily="34" charset="0"/>
                <a:ea typeface="Cambria" pitchFamily="34" charset="-122"/>
                <a:cs typeface="Cambria" pitchFamily="34" charset="-120"/>
              </a:rPr>
              <a:t>Website: find a lot and open it</a:t>
            </a:r>
            <a:endParaRPr lang="en-US" sz="3000" dirty="0"/>
          </a:p>
        </p:txBody>
      </p:sp>
      <p:sp>
        <p:nvSpPr>
          <p:cNvPr id="3" name="Chip Working: tested in a browser"/>
          <p:cNvSpPr txBox="1"/>
          <p:nvPr/>
        </p:nvSpPr>
        <p:spPr>
          <a:xfrm>
            <a:off x="548640" y="1188720"/>
            <a:ext cx="2651760" cy="292608"/>
          </a:xfrm>
          <a:prstGeom prst="rect">
            <a:avLst/>
          </a:prstGeom>
          <a:solidFill>
            <a:srgbClr val="2F6B46"/>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Working: tested in a browser</a:t>
            </a:r>
            <a:endParaRPr lang="en-US" sz="1200" dirty="0"/>
          </a:p>
        </p:txBody>
      </p:sp>
      <p:sp>
        <p:nvSpPr>
          <p:cNvPr id="4" name="Chip Working: tested in a browser"/>
          <p:cNvSpPr txBox="1"/>
          <p:nvPr/>
        </p:nvSpPr>
        <p:spPr>
          <a:xfrm>
            <a:off x="6153912" y="1188720"/>
            <a:ext cx="2651760" cy="292608"/>
          </a:xfrm>
          <a:prstGeom prst="rect">
            <a:avLst/>
          </a:prstGeom>
          <a:solidFill>
            <a:srgbClr val="2F6B46"/>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Working: tested in a browser</a:t>
            </a:r>
            <a:endParaRPr lang="en-US" sz="1200" dirty="0"/>
          </a:p>
        </p:txBody>
      </p:sp>
      <p:pic>
        <p:nvPicPr>
          <p:cNvPr id="5" name="Search screenshot" descr="Search box with the matching lot listed">    </p:cNvPr>
          <p:cNvPicPr>
            <a:picLocks noChangeAspect="1"/>
          </p:cNvPicPr>
          <p:nvPr/>
        </p:nvPicPr>
        <p:blipFill>
          <a:blip r:embed="rId1"/>
          <a:stretch>
            <a:fillRect/>
          </a:stretch>
        </p:blipFill>
        <p:spPr>
          <a:xfrm>
            <a:off x="548640" y="1600200"/>
            <a:ext cx="5486400" cy="2644048"/>
          </a:xfrm>
          <a:prstGeom prst="rect">
            <a:avLst/>
          </a:prstGeom>
          <a:effectLst>
            <a:outerShdw sx="100000" sy="100000" kx="0" ky="0" algn="bl" rotWithShape="0" blurRad="101600" dist="25400" dir="5400000">
              <a:srgbClr val="000000">
                <a:alpha val="18000"/>
              </a:srgbClr>
            </a:outerShdw>
          </a:effectLst>
        </p:spPr>
      </p:pic>
      <p:pic>
        <p:nvPicPr>
          <p:cNvPr id="6" name="Selected lot screenshot" descr="A selected lot, highlighted, with its details panel">    </p:cNvPr>
          <p:cNvPicPr>
            <a:picLocks noChangeAspect="1"/>
          </p:cNvPicPr>
          <p:nvPr/>
        </p:nvPicPr>
        <p:blipFill>
          <a:blip r:embed="rId2"/>
          <a:stretch>
            <a:fillRect/>
          </a:stretch>
        </p:blipFill>
        <p:spPr>
          <a:xfrm>
            <a:off x="6153912" y="1600200"/>
            <a:ext cx="5486400" cy="3366655"/>
          </a:xfrm>
          <a:prstGeom prst="rect">
            <a:avLst/>
          </a:prstGeom>
          <a:effectLst>
            <a:outerShdw sx="100000" sy="100000" kx="0" ky="0" algn="bl" rotWithShape="0" blurRad="101600" dist="25400" dir="5400000">
              <a:srgbClr val="000000">
                <a:alpha val="18000"/>
              </a:srgbClr>
            </a:outerShdw>
          </a:effectLst>
        </p:spPr>
      </p:pic>
      <p:sp>
        <p:nvSpPr>
          <p:cNvPr id="7" name="Text 3"/>
          <p:cNvSpPr txBox="1"/>
          <p:nvPr/>
        </p:nvSpPr>
        <p:spPr>
          <a:xfrm>
            <a:off x="548640" y="4754880"/>
            <a:ext cx="5486400" cy="1097280"/>
          </a:xfrm>
          <a:prstGeom prst="rect">
            <a:avLst/>
          </a:prstGeom>
          <a:noFill/>
          <a:ln/>
        </p:spPr>
        <p:txBody>
          <a:bodyPr wrap="square" lIns="0" tIns="0" rIns="0" bIns="0" rtlCol="0" anchor="t"/>
          <a:lstStyle/>
          <a:p>
            <a:pPr indent="0" marL="0">
              <a:buNone/>
            </a:pPr>
            <a:r>
              <a:rPr lang="en-US" sz="1400" b="1" dirty="0">
                <a:solidFill>
                  <a:srgbClr val="0C2340"/>
                </a:solidFill>
                <a:latin typeface="Calibri" pitchFamily="34" charset="0"/>
                <a:ea typeface="Calibri" pitchFamily="34" charset="-122"/>
                <a:cs typeface="Calibri" pitchFamily="34" charset="-120"/>
              </a:rPr>
              <a:t>Search </a:t>
            </a:r>
            <a:pPr indent="0" marL="0">
              <a:buNone/>
            </a:pPr>
            <a:r>
              <a:rPr lang="en-US" sz="1400" dirty="0">
                <a:solidFill>
                  <a:srgbClr val="1A2130"/>
                </a:solidFill>
                <a:latin typeface="Calibri" pitchFamily="34" charset="0"/>
                <a:ea typeface="Calibri" pitchFamily="34" charset="-122"/>
                <a:cs typeface="Calibri" pitchFamily="34" charset="-120"/>
              </a:rPr>
              <a:t>by H-number, by legacy lot such as "B 20H", or by recorded name (names appear once records exist). Close matches are suggested while typing.</a:t>
            </a:r>
            <a:endParaRPr lang="en-US" sz="1400" dirty="0"/>
          </a:p>
        </p:txBody>
      </p:sp>
      <p:sp>
        <p:nvSpPr>
          <p:cNvPr id="8" name="Text 4"/>
          <p:cNvSpPr txBox="1"/>
          <p:nvPr/>
        </p:nvSpPr>
        <p:spPr>
          <a:xfrm>
            <a:off x="6153912" y="5074920"/>
            <a:ext cx="5486400" cy="1097280"/>
          </a:xfrm>
          <a:prstGeom prst="rect">
            <a:avLst/>
          </a:prstGeom>
          <a:noFill/>
          <a:ln/>
        </p:spPr>
        <p:txBody>
          <a:bodyPr wrap="square" lIns="0" tIns="0" rIns="0" bIns="0" rtlCol="0" anchor="t"/>
          <a:lstStyle/>
          <a:p>
            <a:pPr indent="0" marL="0">
              <a:buNone/>
            </a:pPr>
            <a:r>
              <a:rPr lang="en-US" sz="1400" b="1" dirty="0">
                <a:solidFill>
                  <a:srgbClr val="0C2340"/>
                </a:solidFill>
                <a:latin typeface="Calibri" pitchFamily="34" charset="0"/>
                <a:ea typeface="Calibri" pitchFamily="34" charset="-122"/>
                <a:cs typeface="Calibri" pitchFamily="34" charset="-120"/>
              </a:rPr>
              <a:t>Click any lot </a:t>
            </a:r>
            <a:pPr indent="0" marL="0">
              <a:buNone/>
            </a:pPr>
            <a:r>
              <a:rPr lang="en-US" sz="1400" dirty="0">
                <a:solidFill>
                  <a:srgbClr val="1A2130"/>
                </a:solidFill>
                <a:latin typeface="Calibri" pitchFamily="34" charset="0"/>
                <a:ea typeface="Calibri" pitchFamily="34" charset="-122"/>
                <a:cs typeface="Calibri" pitchFamily="34" charset="-120"/>
              </a:rPr>
              <a:t>and the map zooms to it, highlights it and opens its panel beside the map, so the lot stays visible. Back and Fit map return to earlier views.</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274"/>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C2340"/>
                </a:solidFill>
                <a:latin typeface="Cambria" pitchFamily="34" charset="0"/>
                <a:ea typeface="Cambria" pitchFamily="34" charset="-122"/>
                <a:cs typeface="Cambria" pitchFamily="34" charset="-120"/>
              </a:rPr>
              <a:t>Website: records, editing and exports</a:t>
            </a:r>
            <a:endParaRPr lang="en-US" sz="3000" dirty="0"/>
          </a:p>
        </p:txBody>
      </p:sp>
      <p:pic>
        <p:nvPicPr>
          <p:cNvPr id="3" name="Panel for viewers" descr="Lot panel as a viewer sees it: empty record fields, no Edit button">    </p:cNvPr>
          <p:cNvPicPr>
            <a:picLocks noChangeAspect="1"/>
          </p:cNvPicPr>
          <p:nvPr/>
        </p:nvPicPr>
        <p:blipFill>
          <a:blip r:embed="rId1"/>
          <a:stretch>
            <a:fillRect/>
          </a:stretch>
        </p:blipFill>
        <p:spPr>
          <a:xfrm>
            <a:off x="548640" y="1554480"/>
            <a:ext cx="2926080" cy="3657600"/>
          </a:xfrm>
          <a:prstGeom prst="rect">
            <a:avLst/>
          </a:prstGeom>
          <a:effectLst>
            <a:outerShdw sx="100000" sy="100000" kx="0" ky="0" algn="bl" rotWithShape="0" blurRad="101600" dist="25400" dir="5400000">
              <a:srgbClr val="000000">
                <a:alpha val="18000"/>
              </a:srgbClr>
            </a:outerShdw>
          </a:effectLst>
        </p:spPr>
      </p:pic>
      <p:pic>
        <p:nvPicPr>
          <p:cNvPr id="4" name="Edit form" descr="Edit form for people with edit access">    </p:cNvPr>
          <p:cNvPicPr>
            <a:picLocks noChangeAspect="1"/>
          </p:cNvPicPr>
          <p:nvPr/>
        </p:nvPicPr>
        <p:blipFill>
          <a:blip r:embed="rId2"/>
          <a:stretch>
            <a:fillRect/>
          </a:stretch>
        </p:blipFill>
        <p:spPr>
          <a:xfrm>
            <a:off x="3840480" y="1554480"/>
            <a:ext cx="2721254" cy="3657600"/>
          </a:xfrm>
          <a:prstGeom prst="rect">
            <a:avLst/>
          </a:prstGeom>
          <a:effectLst>
            <a:outerShdw sx="100000" sy="100000" kx="0" ky="0" algn="bl" rotWithShape="0" blurRad="101600" dist="25400" dir="5400000">
              <a:srgbClr val="000000">
                <a:alpha val="18000"/>
              </a:srgbClr>
            </a:outerShdw>
          </a:effectLst>
        </p:spPr>
      </p:pic>
      <p:pic>
        <p:nvPicPr>
          <p:cNvPr id="5" name="Export dialog" descr="Export dialog listing PDFs and CSV lists">    </p:cNvPr>
          <p:cNvPicPr>
            <a:picLocks noChangeAspect="1"/>
          </p:cNvPicPr>
          <p:nvPr/>
        </p:nvPicPr>
        <p:blipFill>
          <a:blip r:embed="rId3"/>
          <a:stretch>
            <a:fillRect/>
          </a:stretch>
        </p:blipFill>
        <p:spPr>
          <a:xfrm>
            <a:off x="6927494" y="1554480"/>
            <a:ext cx="3685953" cy="3657600"/>
          </a:xfrm>
          <a:prstGeom prst="rect">
            <a:avLst/>
          </a:prstGeom>
          <a:effectLst>
            <a:outerShdw sx="100000" sy="100000" kx="0" ky="0" algn="bl" rotWithShape="0" blurRad="101600" dist="25400" dir="5400000">
              <a:srgbClr val="000000">
                <a:alpha val="18000"/>
              </a:srgbClr>
            </a:outerShdw>
          </a:effectLst>
        </p:spPr>
      </p:pic>
      <p:sp>
        <p:nvSpPr>
          <p:cNvPr id="6" name="Chip Viewers"/>
          <p:cNvSpPr txBox="1"/>
          <p:nvPr/>
        </p:nvSpPr>
        <p:spPr>
          <a:xfrm>
            <a:off x="548640" y="1188720"/>
            <a:ext cx="1097280" cy="292608"/>
          </a:xfrm>
          <a:prstGeom prst="rect">
            <a:avLst/>
          </a:prstGeom>
          <a:solidFill>
            <a:srgbClr val="566274"/>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Viewers</a:t>
            </a:r>
            <a:endParaRPr lang="en-US" sz="1200" dirty="0"/>
          </a:p>
        </p:txBody>
      </p:sp>
      <p:sp>
        <p:nvSpPr>
          <p:cNvPr id="7" name="Chip Editors"/>
          <p:cNvSpPr txBox="1"/>
          <p:nvPr/>
        </p:nvSpPr>
        <p:spPr>
          <a:xfrm>
            <a:off x="3840480" y="1188720"/>
            <a:ext cx="1097280" cy="292608"/>
          </a:xfrm>
          <a:prstGeom prst="rect">
            <a:avLst/>
          </a:prstGeom>
          <a:solidFill>
            <a:srgbClr val="566274"/>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Editors</a:t>
            </a:r>
            <a:endParaRPr lang="en-US" sz="1200" dirty="0"/>
          </a:p>
        </p:txBody>
      </p:sp>
      <p:sp>
        <p:nvSpPr>
          <p:cNvPr id="8" name="Chip Exports"/>
          <p:cNvSpPr txBox="1"/>
          <p:nvPr/>
        </p:nvSpPr>
        <p:spPr>
          <a:xfrm>
            <a:off x="6927494" y="1188720"/>
            <a:ext cx="1097280" cy="292608"/>
          </a:xfrm>
          <a:prstGeom prst="rect">
            <a:avLst/>
          </a:prstGeom>
          <a:solidFill>
            <a:srgbClr val="566274"/>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Exports</a:t>
            </a:r>
            <a:endParaRPr lang="en-US" sz="1200" dirty="0"/>
          </a:p>
        </p:txBody>
      </p:sp>
      <p:sp>
        <p:nvSpPr>
          <p:cNvPr id="9" name="Chip Working"/>
          <p:cNvSpPr txBox="1"/>
          <p:nvPr/>
        </p:nvSpPr>
        <p:spPr>
          <a:xfrm>
            <a:off x="548640" y="5349240"/>
            <a:ext cx="1005840" cy="292608"/>
          </a:xfrm>
          <a:prstGeom prst="rect">
            <a:avLst/>
          </a:prstGeom>
          <a:solidFill>
            <a:srgbClr val="2F6B46"/>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Working</a:t>
            </a:r>
            <a:endParaRPr lang="en-US" sz="1200" dirty="0"/>
          </a:p>
        </p:txBody>
      </p:sp>
      <p:sp>
        <p:nvSpPr>
          <p:cNvPr id="10" name="Text 5"/>
          <p:cNvSpPr txBox="1"/>
          <p:nvPr/>
        </p:nvSpPr>
        <p:spPr>
          <a:xfrm>
            <a:off x="548640" y="5715000"/>
            <a:ext cx="2926080" cy="777240"/>
          </a:xfrm>
          <a:prstGeom prst="rect">
            <a:avLst/>
          </a:prstGeom>
          <a:noFill/>
          <a:ln/>
        </p:spPr>
        <p:txBody>
          <a:bodyPr wrap="square" lIns="0" tIns="0" rIns="0" bIns="0" rtlCol="0" anchor="t"/>
          <a:lstStyle/>
          <a:p>
            <a:pPr indent="0" marL="0">
              <a:buNone/>
            </a:pPr>
            <a:r>
              <a:rPr lang="en-US" sz="1200" dirty="0">
                <a:solidFill>
                  <a:srgbClr val="1A2130"/>
                </a:solidFill>
                <a:latin typeface="Calibri" pitchFamily="34" charset="0"/>
                <a:ea typeface="Calibri" pitchFamily="34" charset="-122"/>
                <a:cs typeface="Calibri" pitchFamily="34" charset="-120"/>
              </a:rPr>
              <a:t>Fields start empty and say so. No guessed graves. No Edit button.</a:t>
            </a:r>
            <a:endParaRPr lang="en-US" sz="1200" dirty="0"/>
          </a:p>
        </p:txBody>
      </p:sp>
      <p:sp>
        <p:nvSpPr>
          <p:cNvPr id="11" name="Chip Not yet tested live"/>
          <p:cNvSpPr txBox="1"/>
          <p:nvPr/>
        </p:nvSpPr>
        <p:spPr>
          <a:xfrm>
            <a:off x="3840480" y="5349240"/>
            <a:ext cx="1737360" cy="292608"/>
          </a:xfrm>
          <a:prstGeom prst="rect">
            <a:avLst/>
          </a:prstGeom>
          <a:solidFill>
            <a:srgbClr val="C9892F"/>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Not yet tested live</a:t>
            </a:r>
            <a:endParaRPr lang="en-US" sz="1200" dirty="0"/>
          </a:p>
        </p:txBody>
      </p:sp>
      <p:sp>
        <p:nvSpPr>
          <p:cNvPr id="12" name="Text 7"/>
          <p:cNvSpPr txBox="1"/>
          <p:nvPr/>
        </p:nvSpPr>
        <p:spPr>
          <a:xfrm>
            <a:off x="3840480" y="5715000"/>
            <a:ext cx="2995574" cy="777240"/>
          </a:xfrm>
          <a:prstGeom prst="rect">
            <a:avLst/>
          </a:prstGeom>
          <a:noFill/>
          <a:ln/>
        </p:spPr>
        <p:txBody>
          <a:bodyPr wrap="square" lIns="0" tIns="0" rIns="0" bIns="0" rtlCol="0" anchor="t"/>
          <a:lstStyle/>
          <a:p>
            <a:pPr indent="0" marL="0">
              <a:buNone/>
            </a:pPr>
            <a:r>
              <a:rPr lang="en-US" sz="1200" dirty="0">
                <a:solidFill>
                  <a:srgbClr val="1A2130"/>
                </a:solidFill>
                <a:latin typeface="Calibri" pitchFamily="34" charset="0"/>
                <a:ea typeface="Calibri" pitchFamily="34" charset="-122"/>
                <a:cs typeface="Calibri" pitchFamily="34" charset="-120"/>
              </a:rPr>
              <a:t>Edit button and form only for people with edit access. Tried with a simulated sign-in. Import is built, untested.</a:t>
            </a:r>
            <a:endParaRPr lang="en-US" sz="1200" dirty="0"/>
          </a:p>
        </p:txBody>
      </p:sp>
      <p:sp>
        <p:nvSpPr>
          <p:cNvPr id="13" name="Chip PDFs, CSV built"/>
          <p:cNvSpPr txBox="1"/>
          <p:nvPr/>
        </p:nvSpPr>
        <p:spPr>
          <a:xfrm>
            <a:off x="6927494" y="5349240"/>
            <a:ext cx="1371600" cy="292608"/>
          </a:xfrm>
          <a:prstGeom prst="rect">
            <a:avLst/>
          </a:prstGeom>
          <a:solidFill>
            <a:srgbClr val="2F6B46"/>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PDFs, CSV built</a:t>
            </a:r>
            <a:endParaRPr lang="en-US" sz="1200" dirty="0"/>
          </a:p>
        </p:txBody>
      </p:sp>
      <p:sp>
        <p:nvSpPr>
          <p:cNvPr id="14" name="Chip Download untested"/>
          <p:cNvSpPr txBox="1"/>
          <p:nvPr/>
        </p:nvSpPr>
        <p:spPr>
          <a:xfrm>
            <a:off x="8390534" y="5349240"/>
            <a:ext cx="1463040" cy="292608"/>
          </a:xfrm>
          <a:prstGeom prst="rect">
            <a:avLst/>
          </a:prstGeom>
          <a:solidFill>
            <a:srgbClr val="C9892F"/>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Download untested</a:t>
            </a:r>
            <a:endParaRPr lang="en-US" sz="1200" dirty="0"/>
          </a:p>
        </p:txBody>
      </p:sp>
      <p:sp>
        <p:nvSpPr>
          <p:cNvPr id="15" name="Chip Excel: planned"/>
          <p:cNvSpPr txBox="1"/>
          <p:nvPr/>
        </p:nvSpPr>
        <p:spPr>
          <a:xfrm>
            <a:off x="9945014" y="5349240"/>
            <a:ext cx="1005840" cy="292608"/>
          </a:xfrm>
          <a:prstGeom prst="rect">
            <a:avLst/>
          </a:prstGeom>
          <a:solidFill>
            <a:srgbClr val="566274"/>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Excel: planned</a:t>
            </a:r>
            <a:endParaRPr lang="en-US" sz="1200" dirty="0"/>
          </a:p>
        </p:txBody>
      </p:sp>
      <p:sp>
        <p:nvSpPr>
          <p:cNvPr id="16" name="Text 11"/>
          <p:cNvSpPr txBox="1"/>
          <p:nvPr/>
        </p:nvSpPr>
        <p:spPr>
          <a:xfrm>
            <a:off x="6927494" y="5715000"/>
            <a:ext cx="3685953" cy="777240"/>
          </a:xfrm>
          <a:prstGeom prst="rect">
            <a:avLst/>
          </a:prstGeom>
          <a:noFill/>
          <a:ln/>
        </p:spPr>
        <p:txBody>
          <a:bodyPr wrap="square" lIns="0" tIns="0" rIns="0" bIns="0" rtlCol="0" anchor="t"/>
          <a:lstStyle/>
          <a:p>
            <a:pPr indent="0" marL="0">
              <a:buNone/>
            </a:pPr>
            <a:r>
              <a:rPr lang="en-US" sz="1200" dirty="0">
                <a:solidFill>
                  <a:srgbClr val="1A2130"/>
                </a:solidFill>
                <a:latin typeface="Calibri" pitchFamily="34" charset="0"/>
                <a:ea typeface="Calibri" pitchFamily="34" charset="-122"/>
                <a:cs typeface="Calibri" pitchFamily="34" charset="-120"/>
              </a:rPr>
              <a:t>Full map and each area as PDF, plus CSV lists. Excel (.xlsx) export is planned; CSV opens in Excel.</a:t>
            </a:r>
            <a:endParaRPr lang="en-US" sz="12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274"/>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rgbClr val="0C2340"/>
                </a:solidFill>
                <a:latin typeface="Cambria" pitchFamily="34" charset="0"/>
                <a:ea typeface="Cambria" pitchFamily="34" charset="-122"/>
                <a:cs typeface="Cambria" pitchFamily="34" charset="-120"/>
              </a:rPr>
              <a:t>What happens next, in priority order</a:t>
            </a:r>
            <a:endParaRPr lang="en-US" sz="3000" dirty="0"/>
          </a:p>
        </p:txBody>
      </p:sp>
      <p:graphicFrame>
        <p:nvGraphicFramePr>
          <p:cNvPr id="11" name="Next steps table"/>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6675120"/>
                <a:gridCol w="4389120"/>
              </a:tblGrid>
              <a:tr h="36576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needs to happen</a:t>
                      </a:r>
                      <a:endParaRPr lang="en-US" sz="1400" dirty="0">
                        <a:latin typeface="Calibri" charset="0"/>
                        <a:ea typeface="Calibri" charset="0"/>
                        <a:cs typeface="Calibri" charset="0"/>
                      </a:endParaRPr>
                    </a:p>
                  </a:txBody>
                  <a:tcPr marL="109728" marR="109728" marT="64008" marB="64008"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0C2340"/>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we need from cemetery staff</a:t>
                      </a:r>
                      <a:endParaRPr lang="en-US" sz="1400" dirty="0">
                        <a:latin typeface="Calibri" charset="0"/>
                        <a:ea typeface="Calibri" charset="0"/>
                        <a:cs typeface="Calibri" charset="0"/>
                      </a:endParaRPr>
                    </a:p>
                  </a:txBody>
                  <a:tcPr marL="109728" marR="109728" marT="64008" marB="64008"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0C2340"/>
                    </a:solidFill>
                  </a:tcPr>
                </a:tc>
              </a:tr>
              <a:tr h="1024128">
                <a:tc>
                  <a:txBody>
                    <a:bodyPr/>
                    <a:lstStyle/>
                    <a:p>
                      <a:pPr indent="0" marL="0">
                        <a:buNone/>
                      </a:pPr>
                      <a:r>
                        <a:rPr lang="en-US" sz="1400" b="1" dirty="0">
                          <a:solidFill>
                            <a:srgbClr val="0C2340"/>
                          </a:solidFill>
                          <a:latin typeface="Calibri" pitchFamily="34" charset="0"/>
                          <a:ea typeface="Calibri" pitchFamily="34" charset="-122"/>
                          <a:cs typeface="Calibri" pitchFamily="34" charset="-120"/>
                        </a:rPr>
                        <a:t>1. Settle the numbering conflicts</a:t>
                      </a:r>
                      <a:endParaRPr lang="en-US" sz="1200" dirty="0">
                        <a:latin typeface="Calibri" charset="0"/>
                        <a:ea typeface="Calibri" charset="0"/>
                        <a:cs typeface="Calibri" charset="0"/>
                      </a:endParaRPr>
                    </a:p>
                    <a:p>
                      <a:pPr indent="0" marL="0">
                        <a:buNone/>
                      </a:pPr>
                      <a:r>
                        <a:rPr lang="en-US" sz="1300" dirty="0">
                          <a:solidFill>
                            <a:srgbClr val="1A2130"/>
                          </a:solidFill>
                          <a:latin typeface="Calibri" pitchFamily="34" charset="0"/>
                          <a:ea typeface="Calibri" pitchFamily="34" charset="-122"/>
                          <a:cs typeface="Calibri" pitchFamily="34" charset="-120"/>
                        </a:rPr>
                        <a:t>Section B 373 to 380H appear in two places. Section G has lot 19 twice. Section A lots 20H to 343H show as plain numbers on the map. Several B-side labels (395 to 414) are unknown to the decoder.</a:t>
                      </a:r>
                      <a:endParaRPr lang="en-US" sz="1200" dirty="0">
                        <a:latin typeface="Calibri" charset="0"/>
                        <a:ea typeface="Calibri" charset="0"/>
                        <a:cs typeface="Calibri" charset="0"/>
                      </a:endParaRPr>
                    </a:p>
                  </a:txBody>
                  <a:tcPr marL="109728" marR="109728" marT="64008" marB="64008" anchor="t">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300" dirty="0">
                          <a:solidFill>
                            <a:srgbClr val="1A2130"/>
                          </a:solidFill>
                          <a:latin typeface="Calibri" pitchFamily="34" charset="0"/>
                          <a:ea typeface="Calibri" pitchFamily="34" charset="-122"/>
                          <a:cs typeface="Calibri" pitchFamily="34" charset="-120"/>
                        </a:rPr>
                        <a:t>Someone who knows the original numbering to say which version is right for each conflict.</a:t>
                      </a:r>
                      <a:endParaRPr lang="en-US" sz="1300" dirty="0">
                        <a:latin typeface="Calibri" charset="0"/>
                        <a:ea typeface="Calibri" charset="0"/>
                        <a:cs typeface="Calibri" charset="0"/>
                      </a:endParaRPr>
                    </a:p>
                  </a:txBody>
                  <a:tcPr marL="109728" marR="109728" marT="64008" marB="64008" anchor="t">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r>
              <a:tr h="822960">
                <a:tc>
                  <a:txBody>
                    <a:bodyPr/>
                    <a:lstStyle/>
                    <a:p>
                      <a:pPr indent="0" marL="0">
                        <a:buNone/>
                      </a:pPr>
                      <a:r>
                        <a:rPr lang="en-US" sz="1400" b="1" dirty="0">
                          <a:solidFill>
                            <a:srgbClr val="0C2340"/>
                          </a:solidFill>
                          <a:latin typeface="Calibri" pitchFamily="34" charset="0"/>
                          <a:ea typeface="Calibri" pitchFamily="34" charset="-122"/>
                          <a:cs typeface="Calibri" pitchFamily="34" charset="-120"/>
                        </a:rPr>
                        <a:t>2. Finish the map corrections</a:t>
                      </a:r>
                      <a:endParaRPr lang="en-US" sz="1200" dirty="0">
                        <a:latin typeface="Calibri" charset="0"/>
                        <a:ea typeface="Calibri" charset="0"/>
                        <a:cs typeface="Calibri" charset="0"/>
                      </a:endParaRPr>
                    </a:p>
                    <a:p>
                      <a:pPr indent="0" marL="0">
                        <a:buNone/>
                      </a:pPr>
                      <a:r>
                        <a:rPr lang="en-US" sz="1300" dirty="0">
                          <a:solidFill>
                            <a:srgbClr val="1A2130"/>
                          </a:solidFill>
                          <a:latin typeface="Calibri" pitchFamily="34" charset="0"/>
                          <a:ea typeface="Calibri" pitchFamily="34" charset="-122"/>
                          <a:cs typeface="Calibri" pitchFamily="34" charset="-120"/>
                        </a:rPr>
                        <a:t>72 crypt-row labels have no section. 9 outlined lots have no label. 3 lots are too small for a number (E 195A, E 195B, H 21).</a:t>
                      </a:r>
                      <a:endParaRPr lang="en-US" sz="1200" dirty="0">
                        <a:latin typeface="Calibri" charset="0"/>
                        <a:ea typeface="Calibri" charset="0"/>
                        <a:cs typeface="Calibri" charset="0"/>
                      </a:endParaRPr>
                    </a:p>
                  </a:txBody>
                  <a:tcPr marL="109728" marR="109728" marT="64008" marB="64008" anchor="t">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300" dirty="0">
                          <a:solidFill>
                            <a:srgbClr val="1A2130"/>
                          </a:solidFill>
                          <a:latin typeface="Calibri" pitchFamily="34" charset="0"/>
                          <a:ea typeface="Calibri" pitchFamily="34" charset="-122"/>
                          <a:cs typeface="Calibri" pitchFamily="34" charset="-120"/>
                        </a:rPr>
                        <a:t>Which numbering the crypt rows follow, and a site check of the 9 unlabelled lots.</a:t>
                      </a:r>
                      <a:endParaRPr lang="en-US" sz="1300" dirty="0">
                        <a:latin typeface="Calibri" charset="0"/>
                        <a:ea typeface="Calibri" charset="0"/>
                        <a:cs typeface="Calibri" charset="0"/>
                      </a:endParaRPr>
                    </a:p>
                  </a:txBody>
                  <a:tcPr marL="109728" marR="109728" marT="64008" marB="64008" anchor="t">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r>
              <a:tr h="822960">
                <a:tc>
                  <a:txBody>
                    <a:bodyPr/>
                    <a:lstStyle/>
                    <a:p>
                      <a:pPr indent="0" marL="0">
                        <a:buNone/>
                      </a:pPr>
                      <a:r>
                        <a:rPr lang="en-US" sz="1400" b="1" dirty="0">
                          <a:solidFill>
                            <a:srgbClr val="0C2340"/>
                          </a:solidFill>
                          <a:latin typeface="Calibri" pitchFamily="34" charset="0"/>
                          <a:ea typeface="Calibri" pitchFamily="34" charset="-122"/>
                          <a:cs typeface="Calibri" pitchFamily="34" charset="-120"/>
                        </a:rPr>
                        <a:t>3. Verify grave counts per lot</a:t>
                      </a:r>
                      <a:endParaRPr lang="en-US" sz="1200" dirty="0">
                        <a:latin typeface="Calibri" charset="0"/>
                        <a:ea typeface="Calibri" charset="0"/>
                        <a:cs typeface="Calibri" charset="0"/>
                      </a:endParaRPr>
                    </a:p>
                    <a:p>
                      <a:pPr indent="0" marL="0">
                        <a:buNone/>
                      </a:pPr>
                      <a:r>
                        <a:rPr lang="en-US" sz="1300" dirty="0">
                          <a:solidFill>
                            <a:srgbClr val="1A2130"/>
                          </a:solidFill>
                          <a:latin typeface="Calibri" pitchFamily="34" charset="0"/>
                          <a:ea typeface="Calibri" pitchFamily="34" charset="-122"/>
                          <a:cs typeface="Calibri" pitchFamily="34" charset="-120"/>
                        </a:rPr>
                        <a:t>Lots hold different numbers of graves, so the map shows "grave count not verified" until it is confirmed.</a:t>
                      </a:r>
                      <a:endParaRPr lang="en-US" sz="1200" dirty="0">
                        <a:latin typeface="Calibri" charset="0"/>
                        <a:ea typeface="Calibri" charset="0"/>
                        <a:cs typeface="Calibri" charset="0"/>
                      </a:endParaRPr>
                    </a:p>
                  </a:txBody>
                  <a:tcPr marL="109728" marR="109728" marT="64008" marB="64008" anchor="t">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300" dirty="0">
                          <a:solidFill>
                            <a:srgbClr val="1A2130"/>
                          </a:solidFill>
                          <a:latin typeface="Calibri" pitchFamily="34" charset="0"/>
                          <a:ea typeface="Calibri" pitchFamily="34" charset="-122"/>
                          <a:cs typeface="Calibri" pitchFamily="34" charset="-120"/>
                        </a:rPr>
                        <a:t>A per-lot capacity sheet: lot, number of graves, and how they are arranged.</a:t>
                      </a:r>
                      <a:endParaRPr lang="en-US" sz="1300" dirty="0">
                        <a:latin typeface="Calibri" charset="0"/>
                        <a:ea typeface="Calibri" charset="0"/>
                        <a:cs typeface="Calibri" charset="0"/>
                      </a:endParaRPr>
                    </a:p>
                  </a:txBody>
                  <a:tcPr marL="109728" marR="109728" marT="64008" marB="64008" anchor="t">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r>
              <a:tr h="822960">
                <a:tc>
                  <a:txBody>
                    <a:bodyPr/>
                    <a:lstStyle/>
                    <a:p>
                      <a:pPr indent="0" marL="0">
                        <a:buNone/>
                      </a:pPr>
                      <a:r>
                        <a:rPr lang="en-US" sz="1400" b="1" dirty="0">
                          <a:solidFill>
                            <a:srgbClr val="0C2340"/>
                          </a:solidFill>
                          <a:latin typeface="Calibri" pitchFamily="34" charset="0"/>
                          <a:ea typeface="Calibri" pitchFamily="34" charset="-122"/>
                          <a:cs typeface="Calibri" pitchFamily="34" charset="-120"/>
                        </a:rPr>
                        <a:t>4. Provide the master record spreadsheet</a:t>
                      </a:r>
                      <a:endParaRPr lang="en-US" sz="1200" dirty="0">
                        <a:latin typeface="Calibri" charset="0"/>
                        <a:ea typeface="Calibri" charset="0"/>
                        <a:cs typeface="Calibri" charset="0"/>
                      </a:endParaRPr>
                    </a:p>
                    <a:p>
                      <a:pPr indent="0" marL="0">
                        <a:buNone/>
                      </a:pPr>
                      <a:r>
                        <a:rPr lang="en-US" sz="1300" dirty="0">
                          <a:solidFill>
                            <a:srgbClr val="1A2130"/>
                          </a:solidFill>
                          <a:latin typeface="Calibri" pitchFamily="34" charset="0"/>
                          <a:ea typeface="Calibri" pitchFamily="34" charset="-122"/>
                          <a:cs typeface="Calibri" pitchFamily="34" charset="-120"/>
                        </a:rPr>
                        <a:t>One row per burial, matched to a lot by H-number or by section and lot. The import is ready.</a:t>
                      </a:r>
                      <a:endParaRPr lang="en-US" sz="1200" dirty="0">
                        <a:latin typeface="Calibri" charset="0"/>
                        <a:ea typeface="Calibri" charset="0"/>
                        <a:cs typeface="Calibri" charset="0"/>
                      </a:endParaRPr>
                    </a:p>
                  </a:txBody>
                  <a:tcPr marL="109728" marR="109728" marT="64008" marB="64008" anchor="t">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300" dirty="0">
                          <a:solidFill>
                            <a:srgbClr val="1A2130"/>
                          </a:solidFill>
                          <a:latin typeface="Calibri" pitchFamily="34" charset="0"/>
                          <a:ea typeface="Calibri" pitchFamily="34" charset="-122"/>
                          <a:cs typeface="Calibri" pitchFamily="34" charset="-120"/>
                        </a:rPr>
                        <a:t>Columns: H-number or section + lot, name, birth, death, grave position, source, notes.</a:t>
                      </a:r>
                      <a:endParaRPr lang="en-US" sz="1300" dirty="0">
                        <a:latin typeface="Calibri" charset="0"/>
                        <a:ea typeface="Calibri" charset="0"/>
                        <a:cs typeface="Calibri" charset="0"/>
                      </a:endParaRPr>
                    </a:p>
                  </a:txBody>
                  <a:tcPr marL="109728" marR="109728" marT="64008" marB="64008" anchor="t">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r>
              <a:tr h="822960">
                <a:tc>
                  <a:txBody>
                    <a:bodyPr/>
                    <a:lstStyle/>
                    <a:p>
                      <a:pPr indent="0" marL="0">
                        <a:buNone/>
                      </a:pPr>
                      <a:r>
                        <a:rPr lang="en-US" sz="1400" b="1" dirty="0">
                          <a:solidFill>
                            <a:srgbClr val="0C2340"/>
                          </a:solidFill>
                          <a:latin typeface="Calibri" pitchFamily="34" charset="0"/>
                          <a:ea typeface="Calibri" pitchFamily="34" charset="-122"/>
                          <a:cs typeface="Calibri" pitchFamily="34" charset="-120"/>
                        </a:rPr>
                        <a:t>5. Test live and decide</a:t>
                      </a:r>
                      <a:endParaRPr lang="en-US" sz="1200" dirty="0">
                        <a:latin typeface="Calibri" charset="0"/>
                        <a:ea typeface="Calibri" charset="0"/>
                        <a:cs typeface="Calibri" charset="0"/>
                      </a:endParaRPr>
                    </a:p>
                    <a:p>
                      <a:pPr indent="0" marL="0">
                        <a:buNone/>
                      </a:pPr>
                      <a:r>
                        <a:rPr lang="en-US" sz="1300" dirty="0">
                          <a:solidFill>
                            <a:srgbClr val="1A2130"/>
                          </a:solidFill>
                          <a:latin typeface="Calibri" pitchFamily="34" charset="0"/>
                          <a:ea typeface="Calibri" pitchFamily="34" charset="-122"/>
                          <a:cs typeface="Calibri" pitchFamily="34" charset="-120"/>
                        </a:rPr>
                        <a:t>Try editing, import and downloads with real accounts. Settle area names, logo and where the site is hosted.</a:t>
                      </a:r>
                      <a:endParaRPr lang="en-US" sz="1200" dirty="0">
                        <a:latin typeface="Calibri" charset="0"/>
                        <a:ea typeface="Calibri" charset="0"/>
                        <a:cs typeface="Calibri" charset="0"/>
                      </a:endParaRPr>
                    </a:p>
                  </a:txBody>
                  <a:tcPr marL="109728" marR="109728" marT="64008" marB="64008" anchor="t">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300" dirty="0">
                          <a:solidFill>
                            <a:srgbClr val="1A2130"/>
                          </a:solidFill>
                          <a:latin typeface="Calibri" pitchFamily="34" charset="0"/>
                          <a:ea typeface="Calibri" pitchFamily="34" charset="-122"/>
                          <a:cs typeface="Calibri" pitchFamily="34" charset="-120"/>
                        </a:rPr>
                        <a:t>Editor accounts for testing, and a decision on area names and hosting.</a:t>
                      </a:r>
                      <a:endParaRPr lang="en-US" sz="1300" dirty="0">
                        <a:latin typeface="Calibri" charset="0"/>
                        <a:ea typeface="Calibri" charset="0"/>
                        <a:cs typeface="Calibri" charset="0"/>
                      </a:endParaRPr>
                    </a:p>
                  </a:txBody>
                  <a:tcPr marL="109728" marR="109728" marT="64008" marB="64008" anchor="t">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274"/>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Cedar Grove Atlas">
  <a:themeElements>
    <a:clrScheme name="Cedar Grove Atlas">
      <a:dk1>
        <a:srgbClr val="1A2130"/>
      </a:dk1>
      <a:lt1>
        <a:srgbClr val="FFFFFF"/>
      </a:lt1>
      <a:dk2>
        <a:srgbClr val="0C2340"/>
      </a:dk2>
      <a:lt2>
        <a:srgbClr val="F2F4F7"/>
      </a:lt2>
      <a:accent1>
        <a:srgbClr val="0C2340"/>
      </a:accent1>
      <a:accent2>
        <a:srgbClr val="B8892F"/>
      </a:accent2>
      <a:accent3>
        <a:srgbClr val="2F6B46"/>
      </a:accent3>
      <a:accent4>
        <a:srgbClr val="C9892F"/>
      </a:accent4>
      <a:accent5>
        <a:srgbClr val="566274"/>
      </a:accent5>
      <a:accent6>
        <a:srgbClr val="8FA3B8"/>
      </a:accent6>
      <a:hlink>
        <a:srgbClr val="3A5578"/>
      </a:hlink>
      <a:folHlink>
        <a:srgbClr val="566274"/>
      </a:folHlink>
    </a:clrScheme>
    <a:fontScheme name="Cedar Grove Atla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Cedar Grove H-Number Atlas: progress report</dc:title>
  <dc:subject>PptxGenJS Presentation</dc:subject>
  <dc:creator>PptxGenJS</dc:creator>
  <cp:lastModifiedBy>PptxGenJS</cp:lastModifiedBy>
  <cp:revision>1</cp:revision>
  <dcterms:created xsi:type="dcterms:W3CDTF">2026-10-12T06:49:46Z</dcterms:created>
  <dcterms:modified xsi:type="dcterms:W3CDTF">2026-10-12T06:49:46Z</dcterms:modified>
</cp:coreProperties>
</file>