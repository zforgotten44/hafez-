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130"/>
                </a:solidFill>
                <a:latin typeface="+mn-lt"/>
              </a:defRPr>
            </a:pPr>
            <a:r>
              <a:rPr sz="1400" b="0" i="0" u="none" strike="noStrike">
                <a:solidFill>
                  <a:srgbClr val="1A2130"/>
                </a:solidFill>
                <a:latin typeface="+mn-lt"/>
              </a:rPr>
              <a:t>The 3,103 placed lots, by evidence</a:t>
            </a:r>
          </a:p>
        </c:rich>
      </c:tx>
      <c:layout/>
      <c:overlay val="0"/>
    </c:title>
    <c:autoTitleDeleted val="0"/>
    <c:plotArea>
      <c:layout/>
      <c:barChart>
        <c:barDir val="bar"/>
        <c:grouping val="clustered"/>
        <c:varyColors val="0"/>
        <c:ser>
          <c:idx val="0"/>
          <c:order val="0"/>
          <c:tx>
            <c:strRef>
              <c:f>Sheet1!$B$1</c:f>
              <c:strCache>
                <c:ptCount val="1"/>
                <c:pt idx="0">
                  <c:v>The 3,103 placed lots, by evidence</c:v>
                </c:pt>
              </c:strCache>
            </c:strRef>
          </c:tx>
          <c:spPr>
            <a:solidFill>
              <a:srgbClr val="2F6B46"/>
            </a:solidFill>
            <a:effectLst/>
          </c:spPr>
          <c:invertIfNegative val="0"/>
          <c:dLbls>
            <c:numFmt formatCode="#,##0" sourceLinked="0"/>
            <c:txPr>
              <a:bodyPr/>
              <a:lstStyle/>
              <a:p>
                <a:pPr>
                  <a:defRPr b="0" i="0" strike="noStrike" sz="1200" u="none">
                    <a:solidFill>
                      <a:srgbClr val="1A2130"/>
                    </a:solidFill>
                    <a:latin typeface="+mn-lt"/>
                  </a:defRPr>
                </a:pPr>
              </a:p>
            </c:txPr>
            <c:showLegendKey val="0"/>
            <c:showVal val="1"/>
            <c:showCatName val="0"/>
            <c:showSerName val="0"/>
            <c:showPercent val="0"/>
            <c:showBubbleSize val="0"/>
            <c:showLeaderLines val="0"/>
          </c:dLbls>
          <c:dPt>
            <c:idx val="0"/>
            <c:invertIfNegative val="0"/>
            <c:bubble3D val="0"/>
            <c:spPr>
              <a:solidFill>
                <a:srgbClr val="2F6B46"/>
              </a:solidFill>
              <a:effectLst/>
            </c:spPr>
          </c:dPt>
          <c:dPt>
            <c:idx val="1"/>
            <c:invertIfNegative val="0"/>
            <c:bubble3D val="0"/>
            <c:spPr>
              <a:solidFill>
                <a:srgbClr val="566274"/>
              </a:solidFill>
              <a:effectLst/>
            </c:spPr>
          </c:dPt>
          <c:dPt>
            <c:idx val="2"/>
            <c:invertIfNegative val="0"/>
            <c:bubble3D val="0"/>
            <c:spPr>
              <a:solidFill>
                <a:srgbClr val="566274"/>
              </a:solidFill>
              <a:effectLst/>
            </c:spPr>
          </c:dPt>
          <c:dPt>
            <c:idx val="3"/>
            <c:invertIfNegative val="0"/>
            <c:bubble3D val="0"/>
            <c:spPr>
              <a:solidFill>
                <a:srgbClr val="566274"/>
              </a:solidFill>
              <a:effectLst/>
            </c:spPr>
          </c:dPt>
          <c:cat>
            <c:multiLvlStrRef>
              <c:f>Sheet1!$A$2:$A$5</c:f>
              <c:multiLvlStrCache>
                <c:ptCount val="4"/>
                <c:lvl>
                  <c:pt idx="0">
                    <c:v>Corroborated by two readings</c:v>
                  </c:pt>
                  <c:pt idx="1">
                    <c:v>Inferred, 90-100% neighbours agree</c:v>
                  </c:pt>
                  <c:pt idx="2">
                    <c:v>Inferred, 60-89% agree</c:v>
                  </c:pt>
                  <c:pt idx="3">
                    <c:v>Inferred, label in one section only</c:v>
                  </c:pt>
                </c:lvl>
              </c:multiLvlStrCache>
            </c:multiLvlStrRef>
          </c:cat>
          <c:val>
            <c:numRef>
              <c:f>Sheet1!$B$2:$B$5</c:f>
              <c:numCache>
                <c:formatCode>General</c:formatCode>
                <c:ptCount val="4"/>
                <c:pt idx="0">
                  <c:v>2709</c:v>
                </c:pt>
                <c:pt idx="1">
                  <c:v>327</c:v>
                </c:pt>
                <c:pt idx="2">
                  <c:v>46</c:v>
                </c:pt>
                <c:pt idx="3">
                  <c:v>21</c:v>
                </c:pt>
              </c:numCache>
            </c:numRef>
          </c:val>
        </c:ser>
        <c:dLbls>
          <c:numFmt formatCode="#,##0" sourceLinked="0"/>
          <c:txPr>
            <a:bodyPr/>
            <a:lstStyle/>
            <a:p>
              <a:pPr>
                <a:defRPr b="0" i="0" strike="noStrike" sz="1200" u="none">
                  <a:solidFill>
                    <a:srgbClr val="1A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2130"/>
                </a:solidFill>
                <a:latin typeface="+mn-lt"/>
              </a:defRPr>
            </a:pPr>
            <a:endParaRPr lang="en-US"/>
          </a:p>
        </c:txPr>
        <c:crossAx val="2094734552"/>
        <c:crosses val="autoZero"/>
        <c:auto val="1"/>
        <c:lblAlgn val="ctr"/>
        <c:noMultiLvlLbl val="1"/>
      </c:catAx>
      <c:valAx>
        <c:axId val="2094734552"/>
        <c:scaling>
          <c:orientation val="minMax"/>
          <c:max val="36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A2130"/>
                </a:solidFill>
                <a:latin typeface="+mn-lt"/>
              </a:defRPr>
            </a:pPr>
            <a:r>
              <a:rPr sz="1400" b="0" i="0" u="none" strike="noStrike">
                <a:solidFill>
                  <a:srgbClr val="1A2130"/>
                </a:solidFill>
                <a:latin typeface="+mn-lt"/>
              </a:rPr>
              <a:t>Why the 218 visible lots are unresolved</a:t>
            </a:r>
          </a:p>
        </c:rich>
      </c:tx>
      <c:layout/>
      <c:overlay val="0"/>
    </c:title>
    <c:autoTitleDeleted val="0"/>
    <c:plotArea>
      <c:layout/>
      <c:barChart>
        <c:barDir val="bar"/>
        <c:grouping val="clustered"/>
        <c:varyColors val="0"/>
        <c:ser>
          <c:idx val="0"/>
          <c:order val="0"/>
          <c:tx>
            <c:strRef>
              <c:f>Sheet1!$B$1</c:f>
              <c:strCache>
                <c:ptCount val="1"/>
                <c:pt idx="0">
                  <c:v>Why the 218 visible lots are unresolved</c:v>
                </c:pt>
              </c:strCache>
            </c:strRef>
          </c:tx>
          <c:spPr>
            <a:solidFill>
              <a:srgbClr val="B87A1F"/>
            </a:solidFill>
            <a:effectLst/>
          </c:spPr>
          <c:invertIfNegative val="0"/>
          <c:dLbls>
            <c:numFmt formatCode="#,##0" sourceLinked="0"/>
            <c:txPr>
              <a:bodyPr/>
              <a:lstStyle/>
              <a:p>
                <a:pPr>
                  <a:defRPr b="0" i="0" strike="noStrike" sz="1200" u="none">
                    <a:solidFill>
                      <a:srgbClr val="1A2130"/>
                    </a:solidFill>
                    <a:latin typeface="+mn-lt"/>
                  </a:defRPr>
                </a:pPr>
              </a:p>
            </c:txPr>
            <c:showLegendKey val="0"/>
            <c:showVal val="1"/>
            <c:showCatName val="0"/>
            <c:showSerName val="0"/>
            <c:showPercent val="0"/>
            <c:showBubbleSize val="0"/>
            <c:showLeaderLines val="0"/>
          </c:dLbls>
          <c:cat>
            <c:multiLvlStrRef>
              <c:f>Sheet1!$A$2:$A$7</c:f>
              <c:multiLvlStrCache>
                <c:ptCount val="6"/>
                <c:lvl>
                  <c:pt idx="0">
                    <c:v>Label not in this area's section</c:v>
                  </c:pt>
                  <c:pt idx="1">
                    <c:v>No area evidence (crypt rows)</c:v>
                  </c:pt>
                  <c:pt idx="2">
                    <c:v>Same label twice in a section</c:v>
                  </c:pt>
                  <c:pt idx="3">
                    <c:v>Number far from neighbours</c:v>
                  </c:pt>
                  <c:pt idx="4">
                    <c:v>Label unknown to decoder</c:v>
                  </c:pt>
                  <c:pt idx="5">
                    <c:v>Outline with no label</c:v>
                  </c:pt>
                </c:lvl>
              </c:multiLvlStrCache>
            </c:multiLvlStrRef>
          </c:cat>
          <c:val>
            <c:numRef>
              <c:f>Sheet1!$B$2:$B$7</c:f>
              <c:numCache>
                <c:formatCode>General</c:formatCode>
                <c:ptCount val="6"/>
                <c:pt idx="0">
                  <c:v>77</c:v>
                </c:pt>
                <c:pt idx="1">
                  <c:v>72</c:v>
                </c:pt>
                <c:pt idx="2">
                  <c:v>28</c:v>
                </c:pt>
                <c:pt idx="3">
                  <c:v>20</c:v>
                </c:pt>
                <c:pt idx="4">
                  <c:v>12</c:v>
                </c:pt>
                <c:pt idx="5">
                  <c:v>9</c:v>
                </c:pt>
              </c:numCache>
            </c:numRef>
          </c:val>
        </c:ser>
        <c:dLbls>
          <c:numFmt formatCode="#,##0" sourceLinked="0"/>
          <c:txPr>
            <a:bodyPr/>
            <a:lstStyle/>
            <a:p>
              <a:pPr>
                <a:defRPr b="0" i="0" strike="noStrike" sz="1200" u="none">
                  <a:solidFill>
                    <a:srgbClr val="1A21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A2130"/>
                </a:solidFill>
                <a:latin typeface="+mn-lt"/>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progress snapshot as of October 12, 2026. It covers what changed in the map, how the numbers are produced, what the evidence supports, and what I need from cemetery staff.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views cover the same bounds. The earlier overall map had section titles, a legend and descriptive notes baked in. They are text objects in the source drawing, so the rebuilt map does not draw them. I left roads, lot outlines and building footprints in. All 11,890 lot-outline segments of the source are in the base layer; I removed only the legend frame and its rule. Original text can be switched on from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lots at the same zoom in both versions (around H001900 to H002270). In the first version the old labels were drawn as tiny shapes that could not be removed from the PDF, so I drew the new numbers on top of them. The rebuilt layer takes numbers from the source drawing as text and never draws the old ones. Lots I could not confirm (218 visible, 3 too small for a number) are handled on the next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lots at the same zoom (the curved rows west of the main grid, H002891 to H003082). The new placement measures each number and fits it inside the outline with a margin. On the PDF detail pages the smallest number is 7.4 pt and 20 lots print under 8 pt; none are under 7 pt. Three lots (E 195A, E 195B, H 21) are too small for any legible number and are listed instead. An automatic check found no number touching a lot line in the tested renders, which shows readability, not that every number belongs to the right physical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left the 218 visible lots unresolved because the evidence did not support a single reliable assignment. They carry no number on the map; a decoder candidate, where one exists, appears only in the lot panel. The 394 inferred-section lots are drawn with their H-number but I have not reviewed them individually: 327 have 90 to 100 percent agreement among nearby lots, 46 have 60 to 89 percent, and 21 have labels that exist in only one legacy section. The earlier build reported 3,063 placed, 136 unplaced and 49 unmatched labels; the categories differ, so I did not turn them into a percentage. The shared database was checked on October 12, 2026: no grave records (one leftover test note on H000001).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Steps in the earlier build existed because the original PDF stores numbers as vector strokes, so they had to be recognized and the pages aligned. While rebuilding I found that the Illustrator file in the Ground Maps folder keeps numbers as live text and lot outlines as separate lines. That removed the need to recognize or cover anything. The earlier recognition results are still useful: they independently say which legacy section a label belongs to, and I use that as a cross-check. The 0.05 and 0.1 figures are map units on the drawing, not physical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under h-number-map/pipeline2 in the repository, and run_all.py rebuilds the map, PDFs and lists from the source drawing in about six minutes. Automatic checks: all 3,103 numbers lie inside their lot with clearance, and in the browser and PDF pixel tests no number pixel touches a lot line. The first version also used template matching for digit recognition; that code is kept in h-number-map/pipeline.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lot is followed throughout: legacy label F 34 is H001914. The sidebar groups lots by legacy section letter with H-number ranges and is labelled as cross-reference; I did not invent a new numbered grouping.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plainly. The form and viewer screenshots come from a browser test with a stand-in sign-in and an empty database, so they show the real screens, not a live editor session. Separately, a write as a standard viewer was refused by the shared database rules. No burial data has been entered. PDF, CSV and Excel files are generated by the build; the Excel workbook was added this week. Downloading them from the hosted page and the CSV or Excel record import have not been tested with real accounts or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conflicts need someone who knows the original scheme, not more software. The map work, import validation and download testing can continue on my side in the meantime. The spreadsheet does not need to be complete for the first import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C234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737360"/>
            <a:ext cx="5669280" cy="15544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Cedar Grove</a:t>
            </a:r>
            <a:endParaRPr lang="en-US" sz="4400" dirty="0"/>
          </a:p>
          <a:p>
            <a:pPr indent="0" marL="0">
              <a:buNone/>
            </a:pPr>
            <a:r>
              <a:rPr lang="en-US" sz="4400" b="1" dirty="0">
                <a:solidFill>
                  <a:srgbClr val="FFFFFF"/>
                </a:solidFill>
                <a:latin typeface="Cambria" pitchFamily="34" charset="0"/>
                <a:ea typeface="Cambria" pitchFamily="34" charset="-122"/>
                <a:cs typeface="Cambria" pitchFamily="34" charset="-120"/>
              </a:rPr>
              <a:t>H-Number Atlas</a:t>
            </a:r>
            <a:endParaRPr lang="en-US" sz="4400" dirty="0"/>
          </a:p>
        </p:txBody>
      </p:sp>
      <p:sp>
        <p:nvSpPr>
          <p:cNvPr id="3" name="Text 1"/>
          <p:cNvSpPr txBox="1"/>
          <p:nvPr/>
        </p:nvSpPr>
        <p:spPr>
          <a:xfrm>
            <a:off x="640080" y="3429000"/>
            <a:ext cx="5120640" cy="914400"/>
          </a:xfrm>
          <a:prstGeom prst="rect">
            <a:avLst/>
          </a:prstGeom>
          <a:noFill/>
          <a:ln/>
        </p:spPr>
        <p:txBody>
          <a:bodyPr wrap="square" lIns="0" tIns="0" rIns="0" bIns="0" rtlCol="0" anchor="t"/>
          <a:lstStyle/>
          <a:p>
            <a:pPr indent="0" marL="0">
              <a:buNone/>
            </a:pPr>
            <a:r>
              <a:rPr lang="en-US" sz="2000" dirty="0">
                <a:solidFill>
                  <a:srgbClr val="CADCFC"/>
                </a:solidFill>
                <a:latin typeface="Calibri" pitchFamily="34" charset="0"/>
                <a:ea typeface="Calibri" pitchFamily="34" charset="-122"/>
                <a:cs typeface="Calibri" pitchFamily="34" charset="-120"/>
              </a:rPr>
              <a:t>Map cleanup, H-number placement, and remaining records work</a:t>
            </a:r>
            <a:endParaRPr lang="en-US" sz="2000" dirty="0"/>
          </a:p>
        </p:txBody>
      </p:sp>
      <p:sp>
        <p:nvSpPr>
          <p:cNvPr id="4" name="Text 2"/>
          <p:cNvSpPr txBox="1"/>
          <p:nvPr/>
        </p:nvSpPr>
        <p:spPr>
          <a:xfrm>
            <a:off x="640080" y="5852160"/>
            <a:ext cx="5303520" cy="365760"/>
          </a:xfrm>
          <a:prstGeom prst="rect">
            <a:avLst/>
          </a:prstGeom>
          <a:noFill/>
          <a:ln/>
        </p:spPr>
        <p:txBody>
          <a:bodyPr wrap="square" lIns="0" tIns="0" rIns="0" bIns="0" rtlCol="0" anchor="ctr"/>
          <a:lstStyle/>
          <a:p>
            <a:pPr indent="0" marL="0">
              <a:buNone/>
            </a:pPr>
            <a:r>
              <a:rPr lang="en-US" sz="1400" dirty="0">
                <a:solidFill>
                  <a:srgbClr val="CADCFC"/>
                </a:solidFill>
                <a:latin typeface="Calibri" pitchFamily="34" charset="0"/>
                <a:ea typeface="Calibri" pitchFamily="34" charset="-122"/>
                <a:cs typeface="Calibri" pitchFamily="34" charset="-120"/>
              </a:rPr>
              <a:t>Mahmoud Hafez  |  October 12, 2026</a:t>
            </a:r>
            <a:endParaRPr lang="en-US" sz="1400" dirty="0"/>
          </a:p>
        </p:txBody>
      </p:sp>
      <p:pic>
        <p:nvPicPr>
          <p:cNvPr id="5" name="Cover screenshot" descr="Current map: H-numbers inside lot outlines">    </p:cNvPr>
          <p:cNvPicPr>
            <a:picLocks noChangeAspect="1"/>
          </p:cNvPicPr>
          <p:nvPr/>
        </p:nvPicPr>
        <p:blipFill>
          <a:blip r:embed="rId1"/>
          <a:stretch>
            <a:fillRect/>
          </a:stretch>
        </p:blipFill>
        <p:spPr>
          <a:xfrm>
            <a:off x="6537960" y="1600200"/>
            <a:ext cx="5029200" cy="3218688"/>
          </a:xfrm>
          <a:prstGeom prst="rect">
            <a:avLst/>
          </a:prstGeom>
        </p:spPr>
      </p:pic>
      <p:sp>
        <p:nvSpPr>
          <p:cNvPr id="6" name="Text 3"/>
          <p:cNvSpPr txBox="1"/>
          <p:nvPr/>
        </p:nvSpPr>
        <p:spPr>
          <a:xfrm>
            <a:off x="6537960" y="4937760"/>
            <a:ext cx="502920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Current map: H-numbers inside their lot outlines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Annotations removed; roads and lot outlines kept</a:t>
            </a:r>
            <a:endParaRPr lang="en-US" sz="3000" dirty="0"/>
          </a:p>
        </p:txBody>
      </p:sp>
      <p:sp>
        <p:nvSpPr>
          <p:cNvPr id="3" name="Status BEFORE: previous site"/>
          <p:cNvSpPr txBox="1"/>
          <p:nvPr/>
        </p:nvSpPr>
        <p:spPr>
          <a:xfrm>
            <a:off x="548640" y="1234440"/>
            <a:ext cx="2103120" cy="292608"/>
          </a:xfrm>
          <a:prstGeom prst="rect">
            <a:avLst/>
          </a:prstGeom>
          <a:solidFill>
            <a:srgbClr val="566274"/>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BEFORE: previous site</a:t>
            </a:r>
            <a:endParaRPr lang="en-US" sz="1200" dirty="0"/>
          </a:p>
        </p:txBody>
      </p:sp>
      <p:sp>
        <p:nvSpPr>
          <p:cNvPr id="4" name="Status NOW: rebuilt map"/>
          <p:cNvSpPr txBox="1"/>
          <p:nvPr/>
        </p:nvSpPr>
        <p:spPr>
          <a:xfrm>
            <a:off x="6153912" y="1234440"/>
            <a:ext cx="1828800" cy="292608"/>
          </a:xfrm>
          <a:prstGeom prst="rect">
            <a:avLst/>
          </a:prstGeom>
          <a:solidFill>
            <a:srgbClr val="0C2340"/>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 rebuilt map</a:t>
            </a:r>
            <a:endParaRPr lang="en-US" sz="1200" dirty="0"/>
          </a:p>
        </p:txBody>
      </p:sp>
      <p:sp>
        <p:nvSpPr>
          <p:cNvPr id="5" name="Text 3"/>
          <p:cNvSpPr txBox="1"/>
          <p:nvPr/>
        </p:nvSpPr>
        <p:spPr>
          <a:xfrm>
            <a:off x="8229600" y="1234440"/>
            <a:ext cx="3383280" cy="292608"/>
          </a:xfrm>
          <a:prstGeom prst="rect">
            <a:avLst/>
          </a:prstGeom>
          <a:noFill/>
          <a:ln/>
        </p:spPr>
        <p:txBody>
          <a:bodyPr wrap="square" lIns="0" tIns="0" rIns="0" bIns="0" rtlCol="0" anchor="ctr"/>
          <a:lstStyle/>
          <a:p>
            <a:pPr algn="r" indent="0" marL="0">
              <a:buNone/>
            </a:pPr>
            <a:r>
              <a:rPr lang="en-US" sz="1200" dirty="0">
                <a:solidFill>
                  <a:srgbClr val="566274"/>
                </a:solidFill>
                <a:latin typeface="Calibri" pitchFamily="34" charset="0"/>
                <a:ea typeface="Calibri" pitchFamily="34" charset="-122"/>
                <a:cs typeface="Calibri" pitchFamily="34" charset="-120"/>
              </a:rPr>
              <a:t>Same map bounds in both screenshots</a:t>
            </a:r>
            <a:endParaRPr lang="en-US" sz="1200" dirty="0"/>
          </a:p>
        </p:txBody>
      </p:sp>
      <p:pic>
        <p:nvPicPr>
          <p:cNvPr id="6" name="Before overview" descr="Previous site, whole cemetery">    </p:cNvPr>
          <p:cNvPicPr>
            <a:picLocks noChangeAspect="1"/>
          </p:cNvPicPr>
          <p:nvPr/>
        </p:nvPicPr>
        <p:blipFill>
          <a:blip r:embed="rId1"/>
          <a:stretch>
            <a:fillRect/>
          </a:stretch>
        </p:blipFill>
        <p:spPr>
          <a:xfrm>
            <a:off x="548640" y="1600200"/>
            <a:ext cx="5486400" cy="2880360"/>
          </a:xfrm>
          <a:prstGeom prst="rect">
            <a:avLst/>
          </a:prstGeom>
          <a:effectLst>
            <a:outerShdw sx="100000" sy="100000" kx="0" ky="0" algn="bl" rotWithShape="0" blurRad="101600" dist="25400" dir="5400000">
              <a:srgbClr val="000000">
                <a:alpha val="18000"/>
              </a:srgbClr>
            </a:outerShdw>
          </a:effectLst>
        </p:spPr>
      </p:pic>
      <p:pic>
        <p:nvPicPr>
          <p:cNvPr id="7" name="Now overview" descr="Rebuilt map, whole cemetery">    </p:cNvPr>
          <p:cNvPicPr>
            <a:picLocks noChangeAspect="1"/>
          </p:cNvPicPr>
          <p:nvPr/>
        </p:nvPicPr>
        <p:blipFill>
          <a:blip r:embed="rId2"/>
          <a:stretch>
            <a:fillRect/>
          </a:stretch>
        </p:blipFill>
        <p:spPr>
          <a:xfrm>
            <a:off x="6153912" y="1600200"/>
            <a:ext cx="5486400" cy="2880360"/>
          </a:xfrm>
          <a:prstGeom prst="rect">
            <a:avLst/>
          </a:prstGeom>
          <a:effectLst>
            <a:outerShdw sx="100000" sy="100000" kx="0" ky="0" algn="bl" rotWithShape="0" blurRad="101600" dist="25400" dir="5400000">
              <a:srgbClr val="000000">
                <a:alpha val="18000"/>
              </a:srgbClr>
            </a:outerShdw>
          </a:effectLst>
        </p:spPr>
      </p:pic>
      <p:sp>
        <p:nvSpPr>
          <p:cNvPr id="8" name="Callout 1"/>
          <p:cNvSpPr/>
          <p:nvPr/>
        </p:nvSpPr>
        <p:spPr>
          <a:xfrm>
            <a:off x="2724912" y="2450592"/>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Callout 2"/>
          <p:cNvSpPr/>
          <p:nvPr/>
        </p:nvSpPr>
        <p:spPr>
          <a:xfrm>
            <a:off x="736092" y="2176272"/>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Callout 3"/>
          <p:cNvSpPr/>
          <p:nvPr/>
        </p:nvSpPr>
        <p:spPr>
          <a:xfrm>
            <a:off x="9473184" y="3273552"/>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1" name="Text 7"/>
          <p:cNvSpPr/>
          <p:nvPr/>
        </p:nvSpPr>
        <p:spPr>
          <a:xfrm>
            <a:off x="548640" y="472744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2" name="Text 8"/>
          <p:cNvSpPr txBox="1"/>
          <p:nvPr/>
        </p:nvSpPr>
        <p:spPr>
          <a:xfrm>
            <a:off x="960120" y="4663440"/>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Dark "SECTION" title blocks sat over the lots.</a:t>
            </a:r>
            <a:endParaRPr lang="en-US" sz="1400" dirty="0"/>
          </a:p>
        </p:txBody>
      </p:sp>
      <p:sp>
        <p:nvSpPr>
          <p:cNvPr id="13" name="Text 9"/>
          <p:cNvSpPr/>
          <p:nvPr/>
        </p:nvSpPr>
        <p:spPr>
          <a:xfrm>
            <a:off x="548640" y="5202936"/>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0"/>
          <p:cNvSpPr txBox="1"/>
          <p:nvPr/>
        </p:nvSpPr>
        <p:spPr>
          <a:xfrm>
            <a:off x="960120" y="5138928"/>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Legend and descriptive notes were part of the picture.</a:t>
            </a:r>
            <a:endParaRPr lang="en-US" sz="1400" dirty="0"/>
          </a:p>
        </p:txBody>
      </p:sp>
      <p:sp>
        <p:nvSpPr>
          <p:cNvPr id="15" name="Text 11"/>
          <p:cNvSpPr/>
          <p:nvPr/>
        </p:nvSpPr>
        <p:spPr>
          <a:xfrm>
            <a:off x="6153912" y="472744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2"/>
          <p:cNvSpPr txBox="1"/>
          <p:nvPr/>
        </p:nvSpPr>
        <p:spPr>
          <a:xfrm>
            <a:off x="6565392" y="4663440"/>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Original roads and lot outlines retained, with stronger lines.</a:t>
            </a:r>
            <a:endParaRPr lang="en-US" sz="1400" dirty="0"/>
          </a:p>
        </p:txBody>
      </p:sp>
      <p:sp>
        <p:nvSpPr>
          <p:cNvPr id="17" name="Text 13"/>
          <p:cNvSpPr txBox="1"/>
          <p:nvPr/>
        </p:nvSpPr>
        <p:spPr>
          <a:xfrm>
            <a:off x="6153912" y="5212080"/>
            <a:ext cx="5486400" cy="822960"/>
          </a:xfrm>
          <a:prstGeom prst="rect">
            <a:avLst/>
          </a:prstGeom>
          <a:noFill/>
          <a:ln/>
        </p:spPr>
        <p:txBody>
          <a:bodyPr wrap="square" lIns="0" tIns="0" rIns="0" bIns="0" rtlCol="0" anchor="t"/>
          <a:lstStyle/>
          <a:p>
            <a:pPr indent="0" marL="0">
              <a:buNone/>
            </a:pPr>
            <a:r>
              <a:rPr lang="en-US" sz="1400" dirty="0">
                <a:solidFill>
                  <a:srgbClr val="566274"/>
                </a:solidFill>
                <a:latin typeface="Calibri" pitchFamily="34" charset="0"/>
                <a:ea typeface="Calibri" pitchFamily="34" charset="-122"/>
                <a:cs typeface="Calibri" pitchFamily="34" charset="-120"/>
              </a:rPr>
              <a:t>The first version drew new numbers over the old labels. In the rebuilt map the old text is never drawn. The original annotations can be switched on from Layers.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Confirmed H-numbers now fit inside their lot outlines</a:t>
            </a:r>
            <a:endParaRPr lang="en-US" sz="3000" dirty="0"/>
          </a:p>
        </p:txBody>
      </p:sp>
      <p:sp>
        <p:nvSpPr>
          <p:cNvPr id="3" name="Status BEFORE"/>
          <p:cNvSpPr txBox="1"/>
          <p:nvPr/>
        </p:nvSpPr>
        <p:spPr>
          <a:xfrm>
            <a:off x="548640" y="1234440"/>
            <a:ext cx="1188720" cy="292608"/>
          </a:xfrm>
          <a:prstGeom prst="rect">
            <a:avLst/>
          </a:prstGeom>
          <a:solidFill>
            <a:srgbClr val="566274"/>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 name="Status NOW"/>
          <p:cNvSpPr txBox="1"/>
          <p:nvPr/>
        </p:nvSpPr>
        <p:spPr>
          <a:xfrm>
            <a:off x="6153912" y="1234440"/>
            <a:ext cx="914400" cy="292608"/>
          </a:xfrm>
          <a:prstGeom prst="rect">
            <a:avLst/>
          </a:prstGeom>
          <a:solidFill>
            <a:srgbClr val="0C2340"/>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5" name="Text 3"/>
          <p:cNvSpPr txBox="1"/>
          <p:nvPr/>
        </p:nvSpPr>
        <p:spPr>
          <a:xfrm>
            <a:off x="1920240" y="1234440"/>
            <a:ext cx="4023360" cy="292608"/>
          </a:xfrm>
          <a:prstGeom prst="rect">
            <a:avLst/>
          </a:prstGeom>
          <a:noFill/>
          <a:ln/>
        </p:spPr>
        <p:txBody>
          <a:bodyPr wrap="square" lIns="0" tIns="0" rIns="0" bIns="0" rtlCol="0" anchor="ctr"/>
          <a:lstStyle/>
          <a:p>
            <a:pPr indent="0" marL="0">
              <a:buNone/>
            </a:pPr>
            <a:r>
              <a:rPr lang="en-US" sz="1200" dirty="0">
                <a:solidFill>
                  <a:srgbClr val="566274"/>
                </a:solidFill>
                <a:latin typeface="Calibri" pitchFamily="34" charset="0"/>
                <a:ea typeface="Calibri" pitchFamily="34" charset="-122"/>
                <a:cs typeface="Calibri" pitchFamily="34" charset="-120"/>
              </a:rPr>
              <a:t>Same lots, same zoom</a:t>
            </a:r>
            <a:endParaRPr lang="en-US" sz="1200" dirty="0"/>
          </a:p>
        </p:txBody>
      </p:sp>
      <p:pic>
        <p:nvPicPr>
          <p:cNvPr id="6" name="Before close-up" descr="Previous site, close-up">    </p:cNvPr>
          <p:cNvPicPr>
            <a:picLocks noChangeAspect="1"/>
          </p:cNvPicPr>
          <p:nvPr/>
        </p:nvPicPr>
        <p:blipFill>
          <a:blip r:embed="rId1"/>
          <a:stretch>
            <a:fillRect/>
          </a:stretch>
        </p:blipFill>
        <p:spPr>
          <a:xfrm>
            <a:off x="548640" y="1600200"/>
            <a:ext cx="5486400" cy="3511296"/>
          </a:xfrm>
          <a:prstGeom prst="rect">
            <a:avLst/>
          </a:prstGeom>
          <a:effectLst>
            <a:outerShdw sx="100000" sy="100000" kx="0" ky="0" algn="bl" rotWithShape="0" blurRad="101600" dist="25400" dir="5400000">
              <a:srgbClr val="000000">
                <a:alpha val="18000"/>
              </a:srgbClr>
            </a:outerShdw>
          </a:effectLst>
        </p:spPr>
      </p:pic>
      <p:pic>
        <p:nvPicPr>
          <p:cNvPr id="7" name="Now close-up" descr="Rebuilt map, same lots and zoom">    </p:cNvPr>
          <p:cNvPicPr>
            <a:picLocks noChangeAspect="1"/>
          </p:cNvPicPr>
          <p:nvPr/>
        </p:nvPicPr>
        <p:blipFill>
          <a:blip r:embed="rId2"/>
          <a:stretch>
            <a:fillRect/>
          </a:stretch>
        </p:blipFill>
        <p:spPr>
          <a:xfrm>
            <a:off x="6153912" y="1600200"/>
            <a:ext cx="5486400" cy="3511296"/>
          </a:xfrm>
          <a:prstGeom prst="rect">
            <a:avLst/>
          </a:prstGeom>
          <a:effectLst>
            <a:outerShdw sx="100000" sy="100000" kx="0" ky="0" algn="bl" rotWithShape="0" blurRad="101600" dist="25400" dir="5400000">
              <a:srgbClr val="000000">
                <a:alpha val="18000"/>
              </a:srgbClr>
            </a:outerShdw>
          </a:effectLst>
        </p:spPr>
      </p:pic>
      <p:sp>
        <p:nvSpPr>
          <p:cNvPr id="8" name="Callout 1"/>
          <p:cNvSpPr/>
          <p:nvPr/>
        </p:nvSpPr>
        <p:spPr>
          <a:xfrm>
            <a:off x="2093976" y="2212848"/>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Callout 2"/>
          <p:cNvSpPr/>
          <p:nvPr/>
        </p:nvSpPr>
        <p:spPr>
          <a:xfrm>
            <a:off x="2412187" y="3255264"/>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Callout 3"/>
          <p:cNvSpPr/>
          <p:nvPr/>
        </p:nvSpPr>
        <p:spPr>
          <a:xfrm>
            <a:off x="9153144" y="3310128"/>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1" name="Callout 4"/>
          <p:cNvSpPr/>
          <p:nvPr/>
        </p:nvSpPr>
        <p:spPr>
          <a:xfrm>
            <a:off x="7874813" y="2624328"/>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2" name="Text 8"/>
          <p:cNvSpPr/>
          <p:nvPr/>
        </p:nvSpPr>
        <p:spPr>
          <a:xfrm>
            <a:off x="548640" y="541324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3" name="Text 9"/>
          <p:cNvSpPr txBox="1"/>
          <p:nvPr/>
        </p:nvSpPr>
        <p:spPr>
          <a:xfrm>
            <a:off x="960120" y="5349240"/>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Old numbers still showed beneath the new ones.</a:t>
            </a:r>
            <a:endParaRPr lang="en-US" sz="1400" dirty="0"/>
          </a:p>
        </p:txBody>
      </p:sp>
      <p:sp>
        <p:nvSpPr>
          <p:cNvPr id="14" name="Text 10"/>
          <p:cNvSpPr/>
          <p:nvPr/>
        </p:nvSpPr>
        <p:spPr>
          <a:xfrm>
            <a:off x="548640" y="5888736"/>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1"/>
          <p:cNvSpPr txBox="1"/>
          <p:nvPr/>
        </p:nvSpPr>
        <p:spPr>
          <a:xfrm>
            <a:off x="960120" y="5824728"/>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Heavy outlines pushed numbers against the lot ends.</a:t>
            </a:r>
            <a:endParaRPr lang="en-US" sz="1400" dirty="0"/>
          </a:p>
        </p:txBody>
      </p:sp>
      <p:sp>
        <p:nvSpPr>
          <p:cNvPr id="16" name="Text 12"/>
          <p:cNvSpPr/>
          <p:nvPr/>
        </p:nvSpPr>
        <p:spPr>
          <a:xfrm>
            <a:off x="6153912" y="541324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3"/>
          <p:cNvSpPr txBox="1"/>
          <p:nvPr/>
        </p:nvSpPr>
        <p:spPr>
          <a:xfrm>
            <a:off x="6565392" y="5349240"/>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One H-number per confirmed lot, inside its outline.</a:t>
            </a:r>
            <a:endParaRPr lang="en-US" sz="1400" dirty="0"/>
          </a:p>
        </p:txBody>
      </p:sp>
      <p:sp>
        <p:nvSpPr>
          <p:cNvPr id="18" name="Text 14"/>
          <p:cNvSpPr/>
          <p:nvPr/>
        </p:nvSpPr>
        <p:spPr>
          <a:xfrm>
            <a:off x="6153912" y="5888736"/>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5"/>
          <p:cNvSpPr txBox="1"/>
          <p:nvPr/>
        </p:nvSpPr>
        <p:spPr>
          <a:xfrm>
            <a:off x="6565392" y="5824728"/>
            <a:ext cx="5074920" cy="457200"/>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Legacy labels are not drawn in the rebuilt layer.</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Labels follow the lot orientation, even on curves</a:t>
            </a:r>
            <a:endParaRPr lang="en-US" sz="3000" dirty="0"/>
          </a:p>
        </p:txBody>
      </p:sp>
      <p:sp>
        <p:nvSpPr>
          <p:cNvPr id="3" name="Status BEFORE"/>
          <p:cNvSpPr txBox="1"/>
          <p:nvPr/>
        </p:nvSpPr>
        <p:spPr>
          <a:xfrm>
            <a:off x="548640" y="1234440"/>
            <a:ext cx="1188720" cy="292608"/>
          </a:xfrm>
          <a:prstGeom prst="rect">
            <a:avLst/>
          </a:prstGeom>
          <a:solidFill>
            <a:srgbClr val="566274"/>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BEFORE</a:t>
            </a:r>
            <a:endParaRPr lang="en-US" sz="1200" dirty="0"/>
          </a:p>
        </p:txBody>
      </p:sp>
      <p:sp>
        <p:nvSpPr>
          <p:cNvPr id="4" name="Status NOW"/>
          <p:cNvSpPr txBox="1"/>
          <p:nvPr/>
        </p:nvSpPr>
        <p:spPr>
          <a:xfrm>
            <a:off x="6153912" y="1234440"/>
            <a:ext cx="914400" cy="292608"/>
          </a:xfrm>
          <a:prstGeom prst="rect">
            <a:avLst/>
          </a:prstGeom>
          <a:solidFill>
            <a:srgbClr val="0C2340"/>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NOW</a:t>
            </a:r>
            <a:endParaRPr lang="en-US" sz="1200" dirty="0"/>
          </a:p>
        </p:txBody>
      </p:sp>
      <p:sp>
        <p:nvSpPr>
          <p:cNvPr id="5" name="Text 3"/>
          <p:cNvSpPr txBox="1"/>
          <p:nvPr/>
        </p:nvSpPr>
        <p:spPr>
          <a:xfrm>
            <a:off x="1920240" y="1234440"/>
            <a:ext cx="4023360" cy="292608"/>
          </a:xfrm>
          <a:prstGeom prst="rect">
            <a:avLst/>
          </a:prstGeom>
          <a:noFill/>
          <a:ln/>
        </p:spPr>
        <p:txBody>
          <a:bodyPr wrap="square" lIns="0" tIns="0" rIns="0" bIns="0" rtlCol="0" anchor="ctr"/>
          <a:lstStyle/>
          <a:p>
            <a:pPr indent="0" marL="0">
              <a:buNone/>
            </a:pPr>
            <a:r>
              <a:rPr lang="en-US" sz="1200" dirty="0">
                <a:solidFill>
                  <a:srgbClr val="566274"/>
                </a:solidFill>
                <a:latin typeface="Calibri" pitchFamily="34" charset="0"/>
                <a:ea typeface="Calibri" pitchFamily="34" charset="-122"/>
                <a:cs typeface="Calibri" pitchFamily="34" charset="-120"/>
              </a:rPr>
              <a:t>Same lots, same zoom</a:t>
            </a:r>
            <a:endParaRPr lang="en-US" sz="1200" dirty="0"/>
          </a:p>
        </p:txBody>
      </p:sp>
      <p:pic>
        <p:nvPicPr>
          <p:cNvPr id="6" name="Before close-up" descr="Previous site, close-up">    </p:cNvPr>
          <p:cNvPicPr>
            <a:picLocks noChangeAspect="1"/>
          </p:cNvPicPr>
          <p:nvPr/>
        </p:nvPicPr>
        <p:blipFill>
          <a:blip r:embed="rId1"/>
          <a:stretch>
            <a:fillRect/>
          </a:stretch>
        </p:blipFill>
        <p:spPr>
          <a:xfrm>
            <a:off x="548640" y="1600200"/>
            <a:ext cx="5212080" cy="3335731"/>
          </a:xfrm>
          <a:prstGeom prst="rect">
            <a:avLst/>
          </a:prstGeom>
          <a:effectLst>
            <a:outerShdw sx="100000" sy="100000" kx="0" ky="0" algn="bl" rotWithShape="0" blurRad="101600" dist="25400" dir="5400000">
              <a:srgbClr val="000000">
                <a:alpha val="18000"/>
              </a:srgbClr>
            </a:outerShdw>
          </a:effectLst>
        </p:spPr>
      </p:pic>
      <p:pic>
        <p:nvPicPr>
          <p:cNvPr id="7" name="Now close-up" descr="Rebuilt map, same lots and zoom">    </p:cNvPr>
          <p:cNvPicPr>
            <a:picLocks noChangeAspect="1"/>
          </p:cNvPicPr>
          <p:nvPr/>
        </p:nvPicPr>
        <p:blipFill>
          <a:blip r:embed="rId2"/>
          <a:stretch>
            <a:fillRect/>
          </a:stretch>
        </p:blipFill>
        <p:spPr>
          <a:xfrm>
            <a:off x="6153912" y="1600200"/>
            <a:ext cx="5212080" cy="3335731"/>
          </a:xfrm>
          <a:prstGeom prst="rect">
            <a:avLst/>
          </a:prstGeom>
          <a:effectLst>
            <a:outerShdw sx="100000" sy="100000" kx="0" ky="0" algn="bl" rotWithShape="0" blurRad="101600" dist="25400" dir="5400000">
              <a:srgbClr val="000000">
                <a:alpha val="18000"/>
              </a:srgbClr>
            </a:outerShdw>
          </a:effectLst>
        </p:spPr>
      </p:pic>
      <p:sp>
        <p:nvSpPr>
          <p:cNvPr id="8" name="Callout 1"/>
          <p:cNvSpPr/>
          <p:nvPr/>
        </p:nvSpPr>
        <p:spPr>
          <a:xfrm>
            <a:off x="3676802" y="2487168"/>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Callout 2"/>
          <p:cNvSpPr/>
          <p:nvPr/>
        </p:nvSpPr>
        <p:spPr>
          <a:xfrm>
            <a:off x="1461668" y="2669591"/>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Callout 3"/>
          <p:cNvSpPr/>
          <p:nvPr/>
        </p:nvSpPr>
        <p:spPr>
          <a:xfrm>
            <a:off x="903976" y="2226564"/>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1" name="Callout 4"/>
          <p:cNvSpPr/>
          <p:nvPr/>
        </p:nvSpPr>
        <p:spPr>
          <a:xfrm>
            <a:off x="8604504" y="2226564"/>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2" name="Callout 5"/>
          <p:cNvSpPr/>
          <p:nvPr/>
        </p:nvSpPr>
        <p:spPr>
          <a:xfrm>
            <a:off x="6936638" y="3034436"/>
            <a:ext cx="310896" cy="310896"/>
          </a:xfrm>
          <a:prstGeom prst="ellipse">
            <a:avLst/>
          </a:prstGeom>
          <a:solidFill>
            <a:srgbClr val="B8892F"/>
          </a:solidFill>
          <a:ln w="19050">
            <a:solidFill>
              <a:srgbClr val="FFFFFF"/>
            </a:solid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3" name="Text 9"/>
          <p:cNvSpPr/>
          <p:nvPr/>
        </p:nvSpPr>
        <p:spPr>
          <a:xfrm>
            <a:off x="548640" y="509320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4" name="Text 10"/>
          <p:cNvSpPr txBox="1"/>
          <p:nvPr/>
        </p:nvSpPr>
        <p:spPr>
          <a:xfrm>
            <a:off x="960120" y="5029200"/>
            <a:ext cx="5074920" cy="438912"/>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A "SECTION" block sits over lots 2894 to 2909.</a:t>
            </a:r>
            <a:endParaRPr lang="en-US" sz="1400" dirty="0"/>
          </a:p>
        </p:txBody>
      </p:sp>
      <p:sp>
        <p:nvSpPr>
          <p:cNvPr id="15" name="Text 11"/>
          <p:cNvSpPr/>
          <p:nvPr/>
        </p:nvSpPr>
        <p:spPr>
          <a:xfrm>
            <a:off x="548640" y="555040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2"/>
          <p:cNvSpPr txBox="1"/>
          <p:nvPr/>
        </p:nvSpPr>
        <p:spPr>
          <a:xfrm>
            <a:off x="960120" y="5486400"/>
            <a:ext cx="5074920" cy="438912"/>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Numbers cross lot edges.</a:t>
            </a:r>
            <a:endParaRPr lang="en-US" sz="1400" dirty="0"/>
          </a:p>
        </p:txBody>
      </p:sp>
      <p:sp>
        <p:nvSpPr>
          <p:cNvPr id="17" name="Text 13"/>
          <p:cNvSpPr/>
          <p:nvPr/>
        </p:nvSpPr>
        <p:spPr>
          <a:xfrm>
            <a:off x="548640" y="600760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4"/>
          <p:cNvSpPr txBox="1"/>
          <p:nvPr/>
        </p:nvSpPr>
        <p:spPr>
          <a:xfrm>
            <a:off x="960120" y="5943600"/>
            <a:ext cx="5074920" cy="438912"/>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Black smudges mark erased old labels.</a:t>
            </a:r>
            <a:endParaRPr lang="en-US" sz="1400" dirty="0"/>
          </a:p>
        </p:txBody>
      </p:sp>
      <p:sp>
        <p:nvSpPr>
          <p:cNvPr id="19" name="Text 15"/>
          <p:cNvSpPr/>
          <p:nvPr/>
        </p:nvSpPr>
        <p:spPr>
          <a:xfrm>
            <a:off x="6153912" y="509320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0" name="Text 16"/>
          <p:cNvSpPr txBox="1"/>
          <p:nvPr/>
        </p:nvSpPr>
        <p:spPr>
          <a:xfrm>
            <a:off x="6565392" y="5029200"/>
            <a:ext cx="5074920" cy="438912"/>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Each number turns with its lot and stays inside it.</a:t>
            </a:r>
            <a:endParaRPr lang="en-US" sz="1400" dirty="0"/>
          </a:p>
        </p:txBody>
      </p:sp>
      <p:sp>
        <p:nvSpPr>
          <p:cNvPr id="21" name="Text 17"/>
          <p:cNvSpPr/>
          <p:nvPr/>
        </p:nvSpPr>
        <p:spPr>
          <a:xfrm>
            <a:off x="6153912" y="5550408"/>
            <a:ext cx="292608" cy="292608"/>
          </a:xfrm>
          <a:prstGeom prst="ellipse">
            <a:avLst/>
          </a:prstGeom>
          <a:solidFill>
            <a:srgbClr val="B8892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18"/>
          <p:cNvSpPr txBox="1"/>
          <p:nvPr/>
        </p:nvSpPr>
        <p:spPr>
          <a:xfrm>
            <a:off x="6565392" y="5486400"/>
            <a:ext cx="5074920" cy="438912"/>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Narrow lots get smaller numbers: zoom in on screen. PDF detail pages print the smallest at 7.4 pt.</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Where the lots stand: placed, unresolved, or unplaced</a:t>
            </a:r>
            <a:endParaRPr lang="en-US" sz="3000" dirty="0"/>
          </a:p>
        </p:txBody>
      </p:sp>
      <p:graphicFrame>
        <p:nvGraphicFramePr>
          <p:cNvPr id="6" name="Status table"/>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3200400"/>
                <a:gridCol w="822960"/>
                <a:gridCol w="7040880"/>
              </a:tblGrid>
              <a:tr h="34747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C23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Lots</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C2340"/>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What it means</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0C2340"/>
                    </a:solidFill>
                  </a:tcPr>
                </a:tc>
              </a:tr>
              <a:tr h="457200">
                <a:tc>
                  <a:txBody>
                    <a:bodyPr/>
                    <a:lstStyle/>
                    <a:p>
                      <a:pPr algn="l" indent="0" marL="0">
                        <a:buNone/>
                      </a:pPr>
                      <a:r>
                        <a:rPr lang="en-US" sz="1300" b="1" dirty="0">
                          <a:solidFill>
                            <a:srgbClr val="2F6B46"/>
                          </a:solidFill>
                          <a:latin typeface="Calibri" pitchFamily="34" charset="0"/>
                          <a:ea typeface="Calibri" pitchFamily="34" charset="-122"/>
                          <a:cs typeface="Calibri" pitchFamily="34" charset="-120"/>
                        </a:rPr>
                        <a:t>Placed, section corroborated</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2F6B46"/>
                          </a:solidFill>
                          <a:latin typeface="Calibri" pitchFamily="34" charset="0"/>
                          <a:ea typeface="Calibri" pitchFamily="34" charset="-122"/>
                          <a:cs typeface="Calibri" pitchFamily="34" charset="-120"/>
                        </a:rPr>
                        <a:t>2,709</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2130"/>
                          </a:solidFill>
                          <a:latin typeface="Calibri" pitchFamily="34" charset="0"/>
                          <a:ea typeface="Calibri" pitchFamily="34" charset="-122"/>
                          <a:cs typeface="Calibri" pitchFamily="34" charset="-120"/>
                        </a:rPr>
                        <a:t>A second, earlier reading of the drawing puts the label in the same legacy section.</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566274"/>
                          </a:solidFill>
                          <a:latin typeface="Calibri" pitchFamily="34" charset="0"/>
                          <a:ea typeface="Calibri" pitchFamily="34" charset="-122"/>
                          <a:cs typeface="Calibri" pitchFamily="34" charset="-120"/>
                        </a:rPr>
                        <a:t>Placed, section inferred</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566274"/>
                          </a:solidFill>
                          <a:latin typeface="Calibri" pitchFamily="34" charset="0"/>
                          <a:ea typeface="Calibri" pitchFamily="34" charset="-122"/>
                          <a:cs typeface="Calibri" pitchFamily="34" charset="-120"/>
                        </a:rPr>
                        <a:t>394</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2130"/>
                          </a:solidFill>
                          <a:latin typeface="Calibri" pitchFamily="34" charset="0"/>
                          <a:ea typeface="Calibri" pitchFamily="34" charset="-122"/>
                          <a:cs typeface="Calibri" pitchFamily="34" charset="-120"/>
                        </a:rPr>
                        <a:t>Section inferred from neighbouring lots. Not yet reviewed one by one.</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B87A1F"/>
                          </a:solidFill>
                          <a:latin typeface="Calibri" pitchFamily="34" charset="0"/>
                          <a:ea typeface="Calibri" pitchFamily="34" charset="-122"/>
                          <a:cs typeface="Calibri" pitchFamily="34" charset="-120"/>
                        </a:rPr>
                        <a:t>Visible lot, number unresolved</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B87A1F"/>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2130"/>
                          </a:solidFill>
                          <a:latin typeface="Calibri" pitchFamily="34" charset="0"/>
                          <a:ea typeface="Calibri" pitchFamily="34" charset="-122"/>
                          <a:cs typeface="Calibri" pitchFamily="34" charset="-120"/>
                        </a:rPr>
                        <a:t>An outline is on the drawing; the evidence does not support one H-number. Shaded, never numbered.</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r h="457200">
                <a:tc>
                  <a:txBody>
                    <a:bodyPr/>
                    <a:lstStyle/>
                    <a:p>
                      <a:pPr algn="l" indent="0" marL="0">
                        <a:buNone/>
                      </a:pPr>
                      <a:r>
                        <a:rPr lang="en-US" sz="1300" b="1" dirty="0">
                          <a:solidFill>
                            <a:srgbClr val="B87A1F"/>
                          </a:solidFill>
                          <a:latin typeface="Calibri" pitchFamily="34" charset="0"/>
                          <a:ea typeface="Calibri" pitchFamily="34" charset="-122"/>
                          <a:cs typeface="Calibri" pitchFamily="34" charset="-120"/>
                        </a:rPr>
                        <a:t>Decoder lot, no map position</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r" indent="0" marL="0">
                        <a:buNone/>
                      </a:pPr>
                      <a:r>
                        <a:rPr lang="en-US" sz="1300" b="1" dirty="0">
                          <a:solidFill>
                            <a:srgbClr val="B87A1F"/>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A2130"/>
                          </a:solidFill>
                          <a:latin typeface="Calibri" pitchFamily="34" charset="0"/>
                          <a:ea typeface="Calibri" pitchFamily="34" charset="-122"/>
                          <a:cs typeface="Calibri" pitchFamily="34" charset="-120"/>
                        </a:rPr>
                        <a:t>Known to the decoder; no label resolves to it. 34 of these match a drawn lot counted in the 218.</a:t>
                      </a:r>
                      <a:endParaRPr lang="en-US" sz="1300" dirty="0">
                        <a:latin typeface="Calibri" charset="0"/>
                        <a:ea typeface="Calibri" charset="0"/>
                        <a:cs typeface="Calibri" charset="0"/>
                      </a:endParaRPr>
                    </a:p>
                  </a:txBody>
                  <a:tcPr marL="91440" marR="91440" marT="45720" marB="45720" anchor="ctr">
                    <a:lnL w="9525" cap="flat" cmpd="sng" algn="ctr">
                      <a:solidFill>
                        <a:srgbClr val="DDE3EA"/>
                      </a:solidFill>
                      <a:prstDash val="solid"/>
                      <a:round/>
                      <a:headEnd type="none" w="med" len="med"/>
                      <a:tailEnd type="none" w="med" len="med"/>
                    </a:lnL>
                    <a:lnR w="9525" cap="flat" cmpd="sng" algn="ctr">
                      <a:solidFill>
                        <a:srgbClr val="DDE3EA"/>
                      </a:solidFill>
                      <a:prstDash val="solid"/>
                      <a:round/>
                      <a:headEnd type="none" w="med" len="med"/>
                      <a:tailEnd type="none" w="med" len="med"/>
                    </a:lnR>
                    <a:lnT w="9525" cap="flat" cmpd="sng" algn="ctr">
                      <a:solidFill>
                        <a:srgbClr val="DDE3EA"/>
                      </a:solidFill>
                      <a:prstDash val="solid"/>
                      <a:round/>
                      <a:headEnd type="none" w="med" len="med"/>
                      <a:tailEnd type="none" w="med" len="med"/>
                    </a:lnT>
                    <a:lnB w="9525" cap="flat" cmpd="sng" algn="ctr">
                      <a:solidFill>
                        <a:srgbClr val="DDE3EA"/>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02920" y="3520440"/>
          <a:ext cx="5440680" cy="242316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172200" y="3520440"/>
          <a:ext cx="5440680" cy="242316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989320"/>
            <a:ext cx="10424160" cy="411480"/>
          </a:xfrm>
          <a:prstGeom prst="rect">
            <a:avLst/>
          </a:prstGeom>
          <a:noFill/>
          <a:ln/>
        </p:spPr>
        <p:txBody>
          <a:bodyPr wrap="square" lIns="0" tIns="0" rIns="0" bIns="0" rtlCol="0" anchor="ctr"/>
          <a:lstStyle/>
          <a:p>
            <a:pPr indent="0" marL="0">
              <a:buNone/>
            </a:pPr>
            <a:r>
              <a:rPr lang="en-US" sz="1200" dirty="0">
                <a:solidFill>
                  <a:srgbClr val="566274"/>
                </a:solidFill>
                <a:latin typeface="Calibri" pitchFamily="34" charset="0"/>
                <a:ea typeface="Calibri" pitchFamily="34" charset="-122"/>
                <a:cs typeface="Calibri" pitchFamily="34" charset="-120"/>
              </a:rPr>
              <a:t>The 218 and 68 overlap, so they should not be added together. No burial records and no verified grave counts are in the shared database yet.</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Numbers stored as text changed the method</a:t>
            </a:r>
            <a:endParaRPr lang="en-US" sz="3000" dirty="0"/>
          </a:p>
        </p:txBody>
      </p:sp>
      <p:sp>
        <p:nvSpPr>
          <p:cNvPr id="3" name="Key change"/>
          <p:cNvSpPr/>
          <p:nvPr/>
        </p:nvSpPr>
        <p:spPr>
          <a:xfrm>
            <a:off x="548640" y="1188720"/>
            <a:ext cx="11064240" cy="868680"/>
          </a:xfrm>
          <a:prstGeom prst="rect">
            <a:avLst/>
          </a:prstGeom>
          <a:solidFill>
            <a:srgbClr val="F2F4F7"/>
          </a:solidFill>
          <a:ln w="9525">
            <a:solidFill>
              <a:srgbClr val="DDE3EA"/>
            </a:solidFill>
            <a:prstDash val="solid"/>
          </a:ln>
        </p:spPr>
      </p:sp>
      <p:sp>
        <p:nvSpPr>
          <p:cNvPr id="4" name="Text 2"/>
          <p:cNvSpPr txBox="1"/>
          <p:nvPr/>
        </p:nvSpPr>
        <p:spPr>
          <a:xfrm>
            <a:off x="731520" y="1261872"/>
            <a:ext cx="10698480" cy="731520"/>
          </a:xfrm>
          <a:prstGeom prst="rect">
            <a:avLst/>
          </a:prstGeom>
          <a:noFill/>
          <a:ln/>
        </p:spPr>
        <p:txBody>
          <a:bodyPr wrap="square" lIns="0" tIns="0" rIns="0" bIns="0" rtlCol="0" anchor="ctr"/>
          <a:lstStyle/>
          <a:p>
            <a:pPr indent="0" marL="0">
              <a:buNone/>
            </a:pPr>
            <a:r>
              <a:rPr lang="en-US" sz="1500" b="1" dirty="0">
                <a:solidFill>
                  <a:srgbClr val="0C2340"/>
                </a:solidFill>
                <a:latin typeface="Calibri" pitchFamily="34" charset="0"/>
                <a:ea typeface="Calibri" pitchFamily="34" charset="-122"/>
                <a:cs typeface="Calibri" pitchFamily="34" charset="-120"/>
              </a:rPr>
              <a:t>The key finding: </a:t>
            </a:r>
            <a:pPr indent="0" marL="0">
              <a:buNone/>
            </a:pPr>
            <a:r>
              <a:rPr lang="en-US" sz="1500" dirty="0">
                <a:solidFill>
                  <a:srgbClr val="1A2130"/>
                </a:solidFill>
                <a:latin typeface="Calibri" pitchFamily="34" charset="0"/>
                <a:ea typeface="Calibri" pitchFamily="34" charset="-122"/>
                <a:cs typeface="Calibri" pitchFamily="34" charset="-120"/>
              </a:rPr>
              <a:t>the source drawing (an Illustrator .ai vector file) stores lot numbers as live text and lot outlines as separate lines. I rebuilt the pipeline around that, so numbers are read instead of recognized and nothing has to be covered up.</a:t>
            </a:r>
            <a:endParaRPr lang="en-US" sz="1500" dirty="0"/>
          </a:p>
        </p:txBody>
      </p:sp>
      <p:sp>
        <p:nvSpPr>
          <p:cNvPr id="5" name="Text 3"/>
          <p:cNvSpPr txBox="1"/>
          <p:nvPr/>
        </p:nvSpPr>
        <p:spPr>
          <a:xfrm>
            <a:off x="548640" y="2240280"/>
            <a:ext cx="7315200" cy="292608"/>
          </a:xfrm>
          <a:prstGeom prst="rect">
            <a:avLst/>
          </a:prstGeom>
          <a:noFill/>
          <a:ln/>
        </p:spPr>
        <p:txBody>
          <a:bodyPr wrap="square" lIns="0" tIns="0" rIns="0" bIns="0" rtlCol="0" anchor="t"/>
          <a:lstStyle/>
          <a:p>
            <a:pPr indent="0" marL="0">
              <a:buNone/>
            </a:pPr>
            <a:r>
              <a:rPr lang="en-US" sz="1400" b="1" dirty="0">
                <a:solidFill>
                  <a:srgbClr val="566274"/>
                </a:solidFill>
                <a:latin typeface="Calibri" pitchFamily="34" charset="0"/>
                <a:ea typeface="Calibri" pitchFamily="34" charset="-122"/>
                <a:cs typeface="Calibri" pitchFamily="34" charset="-120"/>
              </a:rPr>
              <a:t>Earlier build: the drawing held numbers as strokes</a:t>
            </a:r>
            <a:endParaRPr lang="en-US" sz="1400" dirty="0"/>
          </a:p>
        </p:txBody>
      </p:sp>
      <p:sp>
        <p:nvSpPr>
          <p:cNvPr id="6" name="Step: Overall map and nine section pages (PDF)"/>
          <p:cNvSpPr/>
          <p:nvPr/>
        </p:nvSpPr>
        <p:spPr>
          <a:xfrm>
            <a:off x="548640" y="2606040"/>
            <a:ext cx="2377440" cy="868680"/>
          </a:xfrm>
          <a:prstGeom prst="rect">
            <a:avLst/>
          </a:prstGeom>
          <a:solidFill>
            <a:srgbClr val="FFFFFF"/>
          </a:solidFill>
          <a:ln w="9525">
            <a:solidFill>
              <a:srgbClr val="DDE3EA"/>
            </a:solidFill>
          </a:ln>
        </p:spPr>
        <p:txBody>
          <a:bodyPr wrap="square" lIns="1016" tIns="1016" rIns="1016" bIns="1016" rtlCol="0" anchor="ctr"/>
          <a:lstStyle/>
          <a:p>
            <a:pPr algn="ctr" indent="0" marL="0">
              <a:buNone/>
            </a:pPr>
            <a:r>
              <a:rPr lang="en-US" sz="1400" dirty="0">
                <a:solidFill>
                  <a:srgbClr val="1A2130"/>
                </a:solidFill>
                <a:latin typeface="Calibri" pitchFamily="34" charset="0"/>
                <a:ea typeface="Calibri" pitchFamily="34" charset="-122"/>
                <a:cs typeface="Calibri" pitchFamily="34" charset="-120"/>
              </a:rPr>
              <a:t>Overall map and nine section pages (PDF)</a:t>
            </a:r>
            <a:endParaRPr lang="en-US" sz="1400" dirty="0"/>
          </a:p>
        </p:txBody>
      </p:sp>
      <p:sp>
        <p:nvSpPr>
          <p:cNvPr id="7" name="Shape 5"/>
          <p:cNvSpPr/>
          <p:nvPr/>
        </p:nvSpPr>
        <p:spPr>
          <a:xfrm>
            <a:off x="2953512" y="2907792"/>
            <a:ext cx="310896" cy="256032"/>
          </a:xfrm>
          <a:prstGeom prst="rightArrow">
            <a:avLst/>
          </a:prstGeom>
          <a:solidFill>
            <a:srgbClr val="B8892F"/>
          </a:solidFill>
          <a:ln w="6350">
            <a:solidFill>
              <a:srgbClr val="B8892F"/>
            </a:solidFill>
            <a:prstDash val="solid"/>
          </a:ln>
        </p:spPr>
      </p:sp>
      <p:sp>
        <p:nvSpPr>
          <p:cNvPr id="8" name="Step: Recognize each drawn character"/>
          <p:cNvSpPr/>
          <p:nvPr/>
        </p:nvSpPr>
        <p:spPr>
          <a:xfrm>
            <a:off x="3447288" y="2606040"/>
            <a:ext cx="2377440" cy="868680"/>
          </a:xfrm>
          <a:prstGeom prst="rect">
            <a:avLst/>
          </a:prstGeom>
          <a:solidFill>
            <a:srgbClr val="FFFFFF"/>
          </a:solidFill>
          <a:ln w="9525">
            <a:solidFill>
              <a:srgbClr val="DDE3EA"/>
            </a:solidFill>
          </a:ln>
        </p:spPr>
        <p:txBody>
          <a:bodyPr wrap="square" lIns="1016" tIns="1016" rIns="1016" bIns="1016" rtlCol="0" anchor="ctr"/>
          <a:lstStyle/>
          <a:p>
            <a:pPr algn="ctr" indent="0" marL="0">
              <a:buNone/>
            </a:pPr>
            <a:r>
              <a:rPr lang="en-US" sz="1400" dirty="0">
                <a:solidFill>
                  <a:srgbClr val="1A2130"/>
                </a:solidFill>
                <a:latin typeface="Calibri" pitchFamily="34" charset="0"/>
                <a:ea typeface="Calibri" pitchFamily="34" charset="-122"/>
                <a:cs typeface="Calibri" pitchFamily="34" charset="-120"/>
              </a:rPr>
              <a:t>Recognize each drawn character</a:t>
            </a:r>
            <a:endParaRPr lang="en-US" sz="1400" dirty="0"/>
          </a:p>
        </p:txBody>
      </p:sp>
      <p:sp>
        <p:nvSpPr>
          <p:cNvPr id="9" name="Shape 7"/>
          <p:cNvSpPr/>
          <p:nvPr/>
        </p:nvSpPr>
        <p:spPr>
          <a:xfrm>
            <a:off x="5852160" y="2907792"/>
            <a:ext cx="310896" cy="256032"/>
          </a:xfrm>
          <a:prstGeom prst="rightArrow">
            <a:avLst/>
          </a:prstGeom>
          <a:solidFill>
            <a:srgbClr val="B8892F"/>
          </a:solidFill>
          <a:ln w="6350">
            <a:solidFill>
              <a:srgbClr val="B8892F"/>
            </a:solidFill>
            <a:prstDash val="solid"/>
          </a:ln>
        </p:spPr>
      </p:sp>
      <p:sp>
        <p:nvSpPr>
          <p:cNvPr id="10" name="Step: Align the pages to the overall map"/>
          <p:cNvSpPr/>
          <p:nvPr/>
        </p:nvSpPr>
        <p:spPr>
          <a:xfrm>
            <a:off x="6345936" y="2606040"/>
            <a:ext cx="2377440" cy="868680"/>
          </a:xfrm>
          <a:prstGeom prst="rect">
            <a:avLst/>
          </a:prstGeom>
          <a:solidFill>
            <a:srgbClr val="FFFFFF"/>
          </a:solidFill>
          <a:ln w="9525">
            <a:solidFill>
              <a:srgbClr val="DDE3EA"/>
            </a:solidFill>
          </a:ln>
        </p:spPr>
        <p:txBody>
          <a:bodyPr wrap="square" lIns="1016" tIns="1016" rIns="1016" bIns="1016" rtlCol="0" anchor="ctr"/>
          <a:lstStyle/>
          <a:p>
            <a:pPr algn="ctr" indent="0" marL="0">
              <a:buNone/>
            </a:pPr>
            <a:r>
              <a:rPr lang="en-US" sz="1400" dirty="0">
                <a:solidFill>
                  <a:srgbClr val="1A2130"/>
                </a:solidFill>
                <a:latin typeface="Calibri" pitchFamily="34" charset="0"/>
                <a:ea typeface="Calibri" pitchFamily="34" charset="-122"/>
                <a:cs typeface="Calibri" pitchFamily="34" charset="-120"/>
              </a:rPr>
              <a:t>Align the pages to the overall map</a:t>
            </a:r>
            <a:endParaRPr lang="en-US" sz="1400" dirty="0"/>
          </a:p>
        </p:txBody>
      </p:sp>
      <p:sp>
        <p:nvSpPr>
          <p:cNvPr id="11" name="Shape 9"/>
          <p:cNvSpPr/>
          <p:nvPr/>
        </p:nvSpPr>
        <p:spPr>
          <a:xfrm>
            <a:off x="8750808" y="2907792"/>
            <a:ext cx="310896" cy="256032"/>
          </a:xfrm>
          <a:prstGeom prst="rightArrow">
            <a:avLst/>
          </a:prstGeom>
          <a:solidFill>
            <a:srgbClr val="B8892F"/>
          </a:solidFill>
          <a:ln w="6350">
            <a:solidFill>
              <a:srgbClr val="B8892F"/>
            </a:solidFill>
            <a:prstDash val="solid"/>
          </a:ln>
        </p:spPr>
      </p:sp>
      <p:sp>
        <p:nvSpPr>
          <p:cNvPr id="12" name="Step: Decode to H-number"/>
          <p:cNvSpPr/>
          <p:nvPr/>
        </p:nvSpPr>
        <p:spPr>
          <a:xfrm>
            <a:off x="9244584" y="2606040"/>
            <a:ext cx="2377440" cy="868680"/>
          </a:xfrm>
          <a:prstGeom prst="rect">
            <a:avLst/>
          </a:prstGeom>
          <a:solidFill>
            <a:srgbClr val="FFFFFF"/>
          </a:solidFill>
          <a:ln w="9525">
            <a:solidFill>
              <a:srgbClr val="DDE3EA"/>
            </a:solidFill>
          </a:ln>
        </p:spPr>
        <p:txBody>
          <a:bodyPr wrap="square" lIns="1016" tIns="1016" rIns="1016" bIns="1016" rtlCol="0" anchor="ctr"/>
          <a:lstStyle/>
          <a:p>
            <a:pPr algn="ctr" indent="0" marL="0">
              <a:buNone/>
            </a:pPr>
            <a:r>
              <a:rPr lang="en-US" sz="1400" dirty="0">
                <a:solidFill>
                  <a:srgbClr val="1A2130"/>
                </a:solidFill>
                <a:latin typeface="Calibri" pitchFamily="34" charset="0"/>
                <a:ea typeface="Calibri" pitchFamily="34" charset="-122"/>
                <a:cs typeface="Calibri" pitchFamily="34" charset="-120"/>
              </a:rPr>
              <a:t>Decode to H-number</a:t>
            </a:r>
            <a:endParaRPr lang="en-US" sz="1400" dirty="0"/>
          </a:p>
        </p:txBody>
      </p:sp>
      <p:sp>
        <p:nvSpPr>
          <p:cNvPr id="13" name="Text 11"/>
          <p:cNvSpPr txBox="1"/>
          <p:nvPr/>
        </p:nvSpPr>
        <p:spPr>
          <a:xfrm>
            <a:off x="548640" y="3840480"/>
            <a:ext cx="7315200" cy="292608"/>
          </a:xfrm>
          <a:prstGeom prst="rect">
            <a:avLst/>
          </a:prstGeom>
          <a:noFill/>
          <a:ln/>
        </p:spPr>
        <p:txBody>
          <a:bodyPr wrap="square" lIns="0" tIns="0" rIns="0" bIns="0" rtlCol="0" anchor="t"/>
          <a:lstStyle/>
          <a:p>
            <a:pPr indent="0" marL="0">
              <a:buNone/>
            </a:pPr>
            <a:r>
              <a:rPr lang="en-US" sz="1400" b="1" dirty="0">
                <a:solidFill>
                  <a:srgbClr val="0C2340"/>
                </a:solidFill>
                <a:latin typeface="Calibri" pitchFamily="34" charset="0"/>
                <a:ea typeface="Calibri" pitchFamily="34" charset="-122"/>
                <a:cs typeface="Calibri" pitchFamily="34" charset="-120"/>
              </a:rPr>
              <a:t>Current build: the drawing holds numbers as text</a:t>
            </a:r>
            <a:endParaRPr lang="en-US" sz="1400" dirty="0"/>
          </a:p>
        </p:txBody>
      </p:sp>
      <p:sp>
        <p:nvSpPr>
          <p:cNvPr id="14" name="Step: Read text and lines from the .ai file"/>
          <p:cNvSpPr/>
          <p:nvPr/>
        </p:nvSpPr>
        <p:spPr>
          <a:xfrm>
            <a:off x="548640" y="4206240"/>
            <a:ext cx="1828800" cy="868680"/>
          </a:xfrm>
          <a:prstGeom prst="rect">
            <a:avLst/>
          </a:prstGeom>
          <a:solidFill>
            <a:srgbClr val="0C2340"/>
          </a:solidFill>
          <a:ln w="9525">
            <a:solidFill>
              <a:srgbClr val="0C2340"/>
            </a:solidFill>
          </a:ln>
        </p:spPr>
        <p:txBody>
          <a:bodyPr wrap="square" lIns="1016" tIns="1016" rIns="1016" bIns="1016"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Read text and lines from the .ai file</a:t>
            </a:r>
            <a:endParaRPr lang="en-US" sz="1400" dirty="0"/>
          </a:p>
        </p:txBody>
      </p:sp>
      <p:sp>
        <p:nvSpPr>
          <p:cNvPr id="15" name="Shape 13"/>
          <p:cNvSpPr/>
          <p:nvPr/>
        </p:nvSpPr>
        <p:spPr>
          <a:xfrm>
            <a:off x="2404872" y="4507992"/>
            <a:ext cx="310896" cy="256032"/>
          </a:xfrm>
          <a:prstGeom prst="rightArrow">
            <a:avLst/>
          </a:prstGeom>
          <a:solidFill>
            <a:srgbClr val="B8892F"/>
          </a:solidFill>
          <a:ln w="6350">
            <a:solidFill>
              <a:srgbClr val="B8892F"/>
            </a:solidFill>
            <a:prstDash val="solid"/>
          </a:ln>
        </p:spPr>
      </p:sp>
      <p:sp>
        <p:nvSpPr>
          <p:cNvPr id="16" name="Step: Trace each lot outline"/>
          <p:cNvSpPr/>
          <p:nvPr/>
        </p:nvSpPr>
        <p:spPr>
          <a:xfrm>
            <a:off x="2857500" y="4206240"/>
            <a:ext cx="1828800" cy="868680"/>
          </a:xfrm>
          <a:prstGeom prst="rect">
            <a:avLst/>
          </a:prstGeom>
          <a:solidFill>
            <a:srgbClr val="0C2340"/>
          </a:solidFill>
          <a:ln w="9525">
            <a:solidFill>
              <a:srgbClr val="0C2340"/>
            </a:solidFill>
          </a:ln>
        </p:spPr>
        <p:txBody>
          <a:bodyPr wrap="square" lIns="1016" tIns="1016" rIns="1016" bIns="1016"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Trace each lot outline</a:t>
            </a:r>
            <a:endParaRPr lang="en-US" sz="1400" dirty="0"/>
          </a:p>
        </p:txBody>
      </p:sp>
      <p:sp>
        <p:nvSpPr>
          <p:cNvPr id="17" name="Shape 15"/>
          <p:cNvSpPr/>
          <p:nvPr/>
        </p:nvSpPr>
        <p:spPr>
          <a:xfrm>
            <a:off x="4713732" y="4507992"/>
            <a:ext cx="310896" cy="256032"/>
          </a:xfrm>
          <a:prstGeom prst="rightArrow">
            <a:avLst/>
          </a:prstGeom>
          <a:solidFill>
            <a:srgbClr val="B8892F"/>
          </a:solidFill>
          <a:ln w="6350">
            <a:solidFill>
              <a:srgbClr val="B8892F"/>
            </a:solidFill>
            <a:prstDash val="solid"/>
          </a:ln>
        </p:spPr>
      </p:sp>
      <p:sp>
        <p:nvSpPr>
          <p:cNvPr id="18" name="Step: Match labels to lots; decode H-number"/>
          <p:cNvSpPr/>
          <p:nvPr/>
        </p:nvSpPr>
        <p:spPr>
          <a:xfrm>
            <a:off x="5166360" y="4206240"/>
            <a:ext cx="1828800" cy="868680"/>
          </a:xfrm>
          <a:prstGeom prst="rect">
            <a:avLst/>
          </a:prstGeom>
          <a:solidFill>
            <a:srgbClr val="0C2340"/>
          </a:solidFill>
          <a:ln w="9525">
            <a:solidFill>
              <a:srgbClr val="0C2340"/>
            </a:solidFill>
          </a:ln>
        </p:spPr>
        <p:txBody>
          <a:bodyPr wrap="square" lIns="1016" tIns="1016" rIns="1016" bIns="1016"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Match labels to lots; decode H-number</a:t>
            </a:r>
            <a:endParaRPr lang="en-US" sz="1400" dirty="0"/>
          </a:p>
        </p:txBody>
      </p:sp>
      <p:sp>
        <p:nvSpPr>
          <p:cNvPr id="19" name="Shape 17"/>
          <p:cNvSpPr/>
          <p:nvPr/>
        </p:nvSpPr>
        <p:spPr>
          <a:xfrm>
            <a:off x="7022592" y="4507992"/>
            <a:ext cx="310896" cy="256032"/>
          </a:xfrm>
          <a:prstGeom prst="rightArrow">
            <a:avLst/>
          </a:prstGeom>
          <a:solidFill>
            <a:srgbClr val="B8892F"/>
          </a:solidFill>
          <a:ln w="6350">
            <a:solidFill>
              <a:srgbClr val="B8892F"/>
            </a:solidFill>
            <a:prstDash val="solid"/>
          </a:ln>
        </p:spPr>
      </p:sp>
      <p:sp>
        <p:nvSpPr>
          <p:cNvPr id="20" name="Step: Check neighbours, duplicates, collisions"/>
          <p:cNvSpPr/>
          <p:nvPr/>
        </p:nvSpPr>
        <p:spPr>
          <a:xfrm>
            <a:off x="7475220" y="4206240"/>
            <a:ext cx="1828800" cy="868680"/>
          </a:xfrm>
          <a:prstGeom prst="rect">
            <a:avLst/>
          </a:prstGeom>
          <a:solidFill>
            <a:srgbClr val="0C2340"/>
          </a:solidFill>
          <a:ln w="9525">
            <a:solidFill>
              <a:srgbClr val="0C2340"/>
            </a:solidFill>
          </a:ln>
        </p:spPr>
        <p:txBody>
          <a:bodyPr wrap="square" lIns="1016" tIns="1016" rIns="1016" bIns="1016"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Check neighbours, duplicates, collisions</a:t>
            </a:r>
            <a:endParaRPr lang="en-US" sz="1400" dirty="0"/>
          </a:p>
        </p:txBody>
      </p:sp>
      <p:sp>
        <p:nvSpPr>
          <p:cNvPr id="21" name="Shape 19"/>
          <p:cNvSpPr/>
          <p:nvPr/>
        </p:nvSpPr>
        <p:spPr>
          <a:xfrm>
            <a:off x="9331452" y="4507992"/>
            <a:ext cx="310896" cy="256032"/>
          </a:xfrm>
          <a:prstGeom prst="rightArrow">
            <a:avLst/>
          </a:prstGeom>
          <a:solidFill>
            <a:srgbClr val="B8892F"/>
          </a:solidFill>
          <a:ln w="6350">
            <a:solidFill>
              <a:srgbClr val="B8892F"/>
            </a:solidFill>
            <a:prstDash val="solid"/>
          </a:ln>
        </p:spPr>
      </p:sp>
      <p:sp>
        <p:nvSpPr>
          <p:cNvPr id="22" name="Step: Render map, PDFs and site"/>
          <p:cNvSpPr/>
          <p:nvPr/>
        </p:nvSpPr>
        <p:spPr>
          <a:xfrm>
            <a:off x="9784080" y="4206240"/>
            <a:ext cx="1828800" cy="868680"/>
          </a:xfrm>
          <a:prstGeom prst="rect">
            <a:avLst/>
          </a:prstGeom>
          <a:solidFill>
            <a:srgbClr val="0C2340"/>
          </a:solidFill>
          <a:ln w="9525">
            <a:solidFill>
              <a:srgbClr val="0C2340"/>
            </a:solidFill>
          </a:ln>
        </p:spPr>
        <p:txBody>
          <a:bodyPr wrap="square" lIns="1016" tIns="1016" rIns="1016" bIns="1016"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Render map, PDFs and site</a:t>
            </a:r>
            <a:endParaRPr lang="en-US" sz="1400" dirty="0"/>
          </a:p>
        </p:txBody>
      </p:sp>
      <p:sp>
        <p:nvSpPr>
          <p:cNvPr id="23" name="Shape 21"/>
          <p:cNvSpPr/>
          <p:nvPr/>
        </p:nvSpPr>
        <p:spPr>
          <a:xfrm>
            <a:off x="4636008" y="3474720"/>
            <a:ext cx="0" cy="256032"/>
          </a:xfrm>
          <a:prstGeom prst="line">
            <a:avLst/>
          </a:prstGeom>
          <a:noFill/>
          <a:ln w="19050">
            <a:solidFill>
              <a:srgbClr val="B8892F"/>
            </a:solidFill>
            <a:prstDash val="dash"/>
          </a:ln>
        </p:spPr>
      </p:sp>
      <p:sp>
        <p:nvSpPr>
          <p:cNvPr id="24" name="Shape 22"/>
          <p:cNvSpPr/>
          <p:nvPr/>
        </p:nvSpPr>
        <p:spPr>
          <a:xfrm>
            <a:off x="4636008" y="3730752"/>
            <a:ext cx="3753612" cy="0"/>
          </a:xfrm>
          <a:prstGeom prst="line">
            <a:avLst/>
          </a:prstGeom>
          <a:noFill/>
          <a:ln w="19050">
            <a:solidFill>
              <a:srgbClr val="B8892F"/>
            </a:solidFill>
            <a:prstDash val="dash"/>
          </a:ln>
        </p:spPr>
      </p:sp>
      <p:sp>
        <p:nvSpPr>
          <p:cNvPr id="25" name="Shape 23"/>
          <p:cNvSpPr/>
          <p:nvPr/>
        </p:nvSpPr>
        <p:spPr>
          <a:xfrm>
            <a:off x="8389620" y="3730752"/>
            <a:ext cx="0" cy="457200"/>
          </a:xfrm>
          <a:prstGeom prst="line">
            <a:avLst/>
          </a:prstGeom>
          <a:noFill/>
          <a:ln w="19050">
            <a:solidFill>
              <a:srgbClr val="B8892F"/>
            </a:solidFill>
            <a:prstDash val="dash"/>
            <a:tailEnd type="triangle"/>
          </a:ln>
        </p:spPr>
      </p:sp>
      <p:sp>
        <p:nvSpPr>
          <p:cNvPr id="26" name="Text 24"/>
          <p:cNvSpPr txBox="1"/>
          <p:nvPr/>
        </p:nvSpPr>
        <p:spPr>
          <a:xfrm>
            <a:off x="4773168" y="3474720"/>
            <a:ext cx="5029200" cy="237744"/>
          </a:xfrm>
          <a:prstGeom prst="rect">
            <a:avLst/>
          </a:prstGeom>
          <a:noFill/>
          <a:ln/>
        </p:spPr>
        <p:txBody>
          <a:bodyPr wrap="square" lIns="0" tIns="0" rIns="0" bIns="0" rtlCol="0" anchor="ctr"/>
          <a:lstStyle/>
          <a:p>
            <a:pPr indent="0" marL="0">
              <a:buNone/>
            </a:pPr>
            <a:r>
              <a:rPr lang="en-US" sz="1200" i="1" dirty="0">
                <a:solidFill>
                  <a:srgbClr val="566274"/>
                </a:solidFill>
                <a:latin typeface="Calibri" pitchFamily="34" charset="0"/>
                <a:ea typeface="Calibri" pitchFamily="34" charset="-122"/>
                <a:cs typeface="Calibri" pitchFamily="34" charset="-120"/>
              </a:rPr>
              <a:t>earlier readings kept as an independent cross-check of each label's legacy section</a:t>
            </a:r>
            <a:endParaRPr lang="en-US" sz="1200" dirty="0"/>
          </a:p>
        </p:txBody>
      </p:sp>
      <p:sp>
        <p:nvSpPr>
          <p:cNvPr id="27" name="Text 25"/>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200" dirty="0">
                <a:solidFill>
                  <a:srgbClr val="566274"/>
                </a:solidFill>
                <a:latin typeface="Calibri" pitchFamily="34" charset="0"/>
                <a:ea typeface="Calibri" pitchFamily="34" charset="-122"/>
                <a:cs typeface="Calibri" pitchFamily="34" charset="-120"/>
              </a:rPr>
              <a:t>Alignment: earlier pages were aligned to the overall map within 0.05 map units, and the earlier readings to the source drawing within about 0.1 (roughly 2% of a lot width). This transfers labels between drawings; it is not survey accuracy.</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Tools, grouped by the job they did</a:t>
            </a:r>
            <a:endParaRPr lang="en-US" sz="3000" dirty="0"/>
          </a:p>
        </p:txBody>
      </p:sp>
      <p:sp>
        <p:nvSpPr>
          <p:cNvPr id="3" name="Text 1"/>
          <p:cNvSpPr txBox="1"/>
          <p:nvPr/>
        </p:nvSpPr>
        <p:spPr>
          <a:xfrm>
            <a:off x="640080" y="1234440"/>
            <a:ext cx="2926080" cy="274320"/>
          </a:xfrm>
          <a:prstGeom prst="rect">
            <a:avLst/>
          </a:prstGeom>
          <a:noFill/>
          <a:ln/>
        </p:spPr>
        <p:txBody>
          <a:bodyPr wrap="square" lIns="0" tIns="0" rIns="0" bIns="0" rtlCol="0" anchor="ctr"/>
          <a:lstStyle/>
          <a:p>
            <a:pPr indent="0" marL="0">
              <a:buNone/>
            </a:pPr>
            <a:r>
              <a:rPr lang="en-US" sz="1200" b="1" dirty="0">
                <a:solidFill>
                  <a:srgbClr val="566274"/>
                </a:solidFill>
                <a:latin typeface="Calibri" pitchFamily="34" charset="0"/>
                <a:ea typeface="Calibri" pitchFamily="34" charset="-122"/>
                <a:cs typeface="Calibri" pitchFamily="34" charset="-120"/>
              </a:rPr>
              <a:t>Job</a:t>
            </a:r>
            <a:endParaRPr lang="en-US" sz="1200" dirty="0"/>
          </a:p>
        </p:txBody>
      </p:sp>
      <p:sp>
        <p:nvSpPr>
          <p:cNvPr id="4" name="Text 2"/>
          <p:cNvSpPr txBox="1"/>
          <p:nvPr/>
        </p:nvSpPr>
        <p:spPr>
          <a:xfrm>
            <a:off x="3749040" y="1234440"/>
            <a:ext cx="3108960" cy="274320"/>
          </a:xfrm>
          <a:prstGeom prst="rect">
            <a:avLst/>
          </a:prstGeom>
          <a:noFill/>
          <a:ln/>
        </p:spPr>
        <p:txBody>
          <a:bodyPr wrap="square" lIns="0" tIns="0" rIns="0" bIns="0" rtlCol="0" anchor="ctr"/>
          <a:lstStyle/>
          <a:p>
            <a:pPr indent="0" marL="0">
              <a:buNone/>
            </a:pPr>
            <a:r>
              <a:rPr lang="en-US" sz="1200" b="1" dirty="0">
                <a:solidFill>
                  <a:srgbClr val="566274"/>
                </a:solidFill>
                <a:latin typeface="Calibri" pitchFamily="34" charset="0"/>
                <a:ea typeface="Calibri" pitchFamily="34" charset="-122"/>
                <a:cs typeface="Calibri" pitchFamily="34" charset="-120"/>
              </a:rPr>
              <a:t>Tools</a:t>
            </a:r>
            <a:endParaRPr lang="en-US" sz="1200" dirty="0"/>
          </a:p>
        </p:txBody>
      </p:sp>
      <p:sp>
        <p:nvSpPr>
          <p:cNvPr id="5" name="Text 3"/>
          <p:cNvSpPr txBox="1"/>
          <p:nvPr/>
        </p:nvSpPr>
        <p:spPr>
          <a:xfrm>
            <a:off x="7040880" y="1234440"/>
            <a:ext cx="4572000" cy="274320"/>
          </a:xfrm>
          <a:prstGeom prst="rect">
            <a:avLst/>
          </a:prstGeom>
          <a:noFill/>
          <a:ln/>
        </p:spPr>
        <p:txBody>
          <a:bodyPr wrap="square" lIns="0" tIns="0" rIns="0" bIns="0" rtlCol="0" anchor="ctr"/>
          <a:lstStyle/>
          <a:p>
            <a:pPr indent="0" marL="0">
              <a:buNone/>
            </a:pPr>
            <a:r>
              <a:rPr lang="en-US" sz="1200" b="1" dirty="0">
                <a:solidFill>
                  <a:srgbClr val="566274"/>
                </a:solidFill>
                <a:latin typeface="Calibri" pitchFamily="34" charset="0"/>
                <a:ea typeface="Calibri" pitchFamily="34" charset="-122"/>
                <a:cs typeface="Calibri" pitchFamily="34" charset="-120"/>
              </a:rPr>
              <a:t>Why it mattered</a:t>
            </a:r>
            <a:endParaRPr lang="en-US" sz="1200" dirty="0"/>
          </a:p>
        </p:txBody>
      </p:sp>
      <p:sp>
        <p:nvSpPr>
          <p:cNvPr id="6" name="Row 1"/>
          <p:cNvSpPr/>
          <p:nvPr/>
        </p:nvSpPr>
        <p:spPr>
          <a:xfrm>
            <a:off x="548640" y="1554480"/>
            <a:ext cx="11064240" cy="694944"/>
          </a:xfrm>
          <a:prstGeom prst="rect">
            <a:avLst/>
          </a:prstGeom>
          <a:solidFill>
            <a:srgbClr val="F2F4F7"/>
          </a:solidFill>
          <a:ln w="6350">
            <a:solidFill>
              <a:srgbClr val="DDE3EA"/>
            </a:solidFill>
            <a:prstDash val="solid"/>
          </a:ln>
        </p:spPr>
      </p:sp>
      <p:sp>
        <p:nvSpPr>
          <p:cNvPr id="7" name="Text 5"/>
          <p:cNvSpPr txBox="1"/>
          <p:nvPr/>
        </p:nvSpPr>
        <p:spPr>
          <a:xfrm>
            <a:off x="640080" y="1554480"/>
            <a:ext cx="3017520" cy="694944"/>
          </a:xfrm>
          <a:prstGeom prst="rect">
            <a:avLst/>
          </a:prstGeom>
          <a:noFill/>
          <a:ln/>
        </p:spPr>
        <p:txBody>
          <a:bodyPr wrap="square" lIns="0" tIns="0" rIns="0" bIns="0" rtlCol="0" anchor="ctr"/>
          <a:lstStyle/>
          <a:p>
            <a:pPr indent="0" marL="0">
              <a:buNone/>
            </a:pPr>
            <a:r>
              <a:rPr lang="en-US" sz="1600" b="1" dirty="0">
                <a:solidFill>
                  <a:srgbClr val="0C2340"/>
                </a:solidFill>
                <a:latin typeface="Cambria" pitchFamily="34" charset="0"/>
                <a:ea typeface="Cambria" pitchFamily="34" charset="-122"/>
                <a:cs typeface="Cambria" pitchFamily="34" charset="-120"/>
              </a:rPr>
              <a:t>Read the source drawings</a:t>
            </a:r>
            <a:endParaRPr lang="en-US" sz="1600" dirty="0"/>
          </a:p>
        </p:txBody>
      </p:sp>
      <p:sp>
        <p:nvSpPr>
          <p:cNvPr id="8" name="Text 6"/>
          <p:cNvSpPr txBox="1"/>
          <p:nvPr/>
        </p:nvSpPr>
        <p:spPr>
          <a:xfrm>
            <a:off x="3749040" y="1554480"/>
            <a:ext cx="31089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Python 3, PyMuPDF</a:t>
            </a:r>
            <a:endParaRPr lang="en-US" sz="1400" dirty="0"/>
          </a:p>
        </p:txBody>
      </p:sp>
      <p:sp>
        <p:nvSpPr>
          <p:cNvPr id="9" name="Text 7"/>
          <p:cNvSpPr txBox="1"/>
          <p:nvPr/>
        </p:nvSpPr>
        <p:spPr>
          <a:xfrm>
            <a:off x="7040880" y="1554480"/>
            <a:ext cx="44805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Pull every line and every text label out of the .ai file, and write the PDFs.</a:t>
            </a:r>
            <a:endParaRPr lang="en-US" sz="1400" dirty="0"/>
          </a:p>
        </p:txBody>
      </p:sp>
      <p:sp>
        <p:nvSpPr>
          <p:cNvPr id="10" name="Row 2"/>
          <p:cNvSpPr/>
          <p:nvPr/>
        </p:nvSpPr>
        <p:spPr>
          <a:xfrm>
            <a:off x="548640" y="2322576"/>
            <a:ext cx="11064240" cy="694944"/>
          </a:xfrm>
          <a:prstGeom prst="rect">
            <a:avLst/>
          </a:prstGeom>
          <a:solidFill>
            <a:srgbClr val="FFFFFF"/>
          </a:solidFill>
          <a:ln w="6350">
            <a:solidFill>
              <a:srgbClr val="DDE3EA"/>
            </a:solidFill>
            <a:prstDash val="solid"/>
          </a:ln>
        </p:spPr>
      </p:sp>
      <p:sp>
        <p:nvSpPr>
          <p:cNvPr id="11" name="Text 9"/>
          <p:cNvSpPr txBox="1"/>
          <p:nvPr/>
        </p:nvSpPr>
        <p:spPr>
          <a:xfrm>
            <a:off x="640080" y="2322576"/>
            <a:ext cx="3017520" cy="694944"/>
          </a:xfrm>
          <a:prstGeom prst="rect">
            <a:avLst/>
          </a:prstGeom>
          <a:noFill/>
          <a:ln/>
        </p:spPr>
        <p:txBody>
          <a:bodyPr wrap="square" lIns="0" tIns="0" rIns="0" bIns="0" rtlCol="0" anchor="ctr"/>
          <a:lstStyle/>
          <a:p>
            <a:pPr indent="0" marL="0">
              <a:buNone/>
            </a:pPr>
            <a:r>
              <a:rPr lang="en-US" sz="1600" b="1" dirty="0">
                <a:solidFill>
                  <a:srgbClr val="0C2340"/>
                </a:solidFill>
                <a:latin typeface="Cambria" pitchFamily="34" charset="0"/>
                <a:ea typeface="Cambria" pitchFamily="34" charset="-122"/>
                <a:cs typeface="Cambria" pitchFamily="34" charset="-120"/>
              </a:rPr>
              <a:t>Find and fit the lot shapes</a:t>
            </a:r>
            <a:endParaRPr lang="en-US" sz="1600" dirty="0"/>
          </a:p>
        </p:txBody>
      </p:sp>
      <p:sp>
        <p:nvSpPr>
          <p:cNvPr id="12" name="Text 10"/>
          <p:cNvSpPr txBox="1"/>
          <p:nvPr/>
        </p:nvSpPr>
        <p:spPr>
          <a:xfrm>
            <a:off x="3749040" y="2322576"/>
            <a:ext cx="31089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OpenCV, NumPy, SciPy, Shapely</a:t>
            </a:r>
            <a:endParaRPr lang="en-US" sz="1400" dirty="0"/>
          </a:p>
        </p:txBody>
      </p:sp>
      <p:sp>
        <p:nvSpPr>
          <p:cNvPr id="13" name="Text 11"/>
          <p:cNvSpPr txBox="1"/>
          <p:nvPr/>
        </p:nvSpPr>
        <p:spPr>
          <a:xfrm>
            <a:off x="7040880" y="2322576"/>
            <a:ext cx="44805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Trace each lot outline, match numbers to the right lot, and keep each number inside it.</a:t>
            </a:r>
            <a:endParaRPr lang="en-US" sz="1400" dirty="0"/>
          </a:p>
        </p:txBody>
      </p:sp>
      <p:sp>
        <p:nvSpPr>
          <p:cNvPr id="14" name="Row 3"/>
          <p:cNvSpPr/>
          <p:nvPr/>
        </p:nvSpPr>
        <p:spPr>
          <a:xfrm>
            <a:off x="548640" y="3090672"/>
            <a:ext cx="11064240" cy="694944"/>
          </a:xfrm>
          <a:prstGeom prst="rect">
            <a:avLst/>
          </a:prstGeom>
          <a:solidFill>
            <a:srgbClr val="F2F4F7"/>
          </a:solidFill>
          <a:ln w="6350">
            <a:solidFill>
              <a:srgbClr val="DDE3EA"/>
            </a:solidFill>
            <a:prstDash val="solid"/>
          </a:ln>
        </p:spPr>
      </p:sp>
      <p:sp>
        <p:nvSpPr>
          <p:cNvPr id="15" name="Text 13"/>
          <p:cNvSpPr txBox="1"/>
          <p:nvPr/>
        </p:nvSpPr>
        <p:spPr>
          <a:xfrm>
            <a:off x="640080" y="3090672"/>
            <a:ext cx="3017520" cy="694944"/>
          </a:xfrm>
          <a:prstGeom prst="rect">
            <a:avLst/>
          </a:prstGeom>
          <a:noFill/>
          <a:ln/>
        </p:spPr>
        <p:txBody>
          <a:bodyPr wrap="square" lIns="0" tIns="0" rIns="0" bIns="0" rtlCol="0" anchor="ctr"/>
          <a:lstStyle/>
          <a:p>
            <a:pPr indent="0" marL="0">
              <a:buNone/>
            </a:pPr>
            <a:r>
              <a:rPr lang="en-US" sz="1600" b="1" dirty="0">
                <a:solidFill>
                  <a:srgbClr val="0C2340"/>
                </a:solidFill>
                <a:latin typeface="Cambria" pitchFamily="34" charset="0"/>
                <a:ea typeface="Cambria" pitchFamily="34" charset="-122"/>
                <a:cs typeface="Cambria" pitchFamily="34" charset="-120"/>
              </a:rPr>
              <a:t>Decode H-numbers</a:t>
            </a:r>
            <a:endParaRPr lang="en-US" sz="1600" dirty="0"/>
          </a:p>
        </p:txBody>
      </p:sp>
      <p:sp>
        <p:nvSpPr>
          <p:cNvPr id="16" name="Text 14"/>
          <p:cNvSpPr txBox="1"/>
          <p:nvPr/>
        </p:nvSpPr>
        <p:spPr>
          <a:xfrm>
            <a:off x="3749040" y="3090672"/>
            <a:ext cx="31089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Project decoder (s4decoder1.py)</a:t>
            </a:r>
            <a:endParaRPr lang="en-US" sz="1400" dirty="0"/>
          </a:p>
        </p:txBody>
      </p:sp>
      <p:sp>
        <p:nvSpPr>
          <p:cNvPr id="17" name="Text 15"/>
          <p:cNvSpPr txBox="1"/>
          <p:nvPr/>
        </p:nvSpPr>
        <p:spPr>
          <a:xfrm>
            <a:off x="7040880" y="3090672"/>
            <a:ext cx="44805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Turns "Section F, lot 34" into H001914. It is the only source of H-numbers.</a:t>
            </a:r>
            <a:endParaRPr lang="en-US" sz="1400" dirty="0"/>
          </a:p>
        </p:txBody>
      </p:sp>
      <p:sp>
        <p:nvSpPr>
          <p:cNvPr id="18" name="Row 4"/>
          <p:cNvSpPr/>
          <p:nvPr/>
        </p:nvSpPr>
        <p:spPr>
          <a:xfrm>
            <a:off x="548640" y="3858768"/>
            <a:ext cx="11064240" cy="694944"/>
          </a:xfrm>
          <a:prstGeom prst="rect">
            <a:avLst/>
          </a:prstGeom>
          <a:solidFill>
            <a:srgbClr val="FFFFFF"/>
          </a:solidFill>
          <a:ln w="6350">
            <a:solidFill>
              <a:srgbClr val="DDE3EA"/>
            </a:solidFill>
            <a:prstDash val="solid"/>
          </a:ln>
        </p:spPr>
      </p:sp>
      <p:sp>
        <p:nvSpPr>
          <p:cNvPr id="19" name="Text 17"/>
          <p:cNvSpPr txBox="1"/>
          <p:nvPr/>
        </p:nvSpPr>
        <p:spPr>
          <a:xfrm>
            <a:off x="640080" y="3858768"/>
            <a:ext cx="3017520" cy="694944"/>
          </a:xfrm>
          <a:prstGeom prst="rect">
            <a:avLst/>
          </a:prstGeom>
          <a:noFill/>
          <a:ln/>
        </p:spPr>
        <p:txBody>
          <a:bodyPr wrap="square" lIns="0" tIns="0" rIns="0" bIns="0" rtlCol="0" anchor="ctr"/>
          <a:lstStyle/>
          <a:p>
            <a:pPr indent="0" marL="0">
              <a:buNone/>
            </a:pPr>
            <a:r>
              <a:rPr lang="en-US" sz="1600" b="1" dirty="0">
                <a:solidFill>
                  <a:srgbClr val="0C2340"/>
                </a:solidFill>
                <a:latin typeface="Cambria" pitchFamily="34" charset="0"/>
                <a:ea typeface="Cambria" pitchFamily="34" charset="-122"/>
                <a:cs typeface="Cambria" pitchFamily="34" charset="-120"/>
              </a:rPr>
              <a:t>Build the map and site</a:t>
            </a:r>
            <a:endParaRPr lang="en-US" sz="1600" dirty="0"/>
          </a:p>
        </p:txBody>
      </p:sp>
      <p:sp>
        <p:nvSpPr>
          <p:cNvPr id="20" name="Text 18"/>
          <p:cNvSpPr txBox="1"/>
          <p:nvPr/>
        </p:nvSpPr>
        <p:spPr>
          <a:xfrm>
            <a:off x="3749040" y="3858768"/>
            <a:ext cx="31089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SVG, plain JavaScript, shared database</a:t>
            </a:r>
            <a:endParaRPr lang="en-US" sz="1400" dirty="0"/>
          </a:p>
        </p:txBody>
      </p:sp>
      <p:sp>
        <p:nvSpPr>
          <p:cNvPr id="21" name="Text 19"/>
          <p:cNvSpPr txBox="1"/>
          <p:nvPr/>
        </p:nvSpPr>
        <p:spPr>
          <a:xfrm>
            <a:off x="7040880" y="3858768"/>
            <a:ext cx="44805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A sharp, zoomable map with lot panels. Records are stored so that only people with edit access can change them.</a:t>
            </a:r>
            <a:endParaRPr lang="en-US" sz="1400" dirty="0"/>
          </a:p>
        </p:txBody>
      </p:sp>
      <p:sp>
        <p:nvSpPr>
          <p:cNvPr id="22" name="Row 5"/>
          <p:cNvSpPr/>
          <p:nvPr/>
        </p:nvSpPr>
        <p:spPr>
          <a:xfrm>
            <a:off x="548640" y="4626864"/>
            <a:ext cx="11064240" cy="694944"/>
          </a:xfrm>
          <a:prstGeom prst="rect">
            <a:avLst/>
          </a:prstGeom>
          <a:solidFill>
            <a:srgbClr val="F2F4F7"/>
          </a:solidFill>
          <a:ln w="6350">
            <a:solidFill>
              <a:srgbClr val="DDE3EA"/>
            </a:solidFill>
            <a:prstDash val="solid"/>
          </a:ln>
        </p:spPr>
      </p:sp>
      <p:sp>
        <p:nvSpPr>
          <p:cNvPr id="23" name="Text 21"/>
          <p:cNvSpPr txBox="1"/>
          <p:nvPr/>
        </p:nvSpPr>
        <p:spPr>
          <a:xfrm>
            <a:off x="640080" y="4626864"/>
            <a:ext cx="3017520" cy="694944"/>
          </a:xfrm>
          <a:prstGeom prst="rect">
            <a:avLst/>
          </a:prstGeom>
          <a:noFill/>
          <a:ln/>
        </p:spPr>
        <p:txBody>
          <a:bodyPr wrap="square" lIns="0" tIns="0" rIns="0" bIns="0" rtlCol="0" anchor="ctr"/>
          <a:lstStyle/>
          <a:p>
            <a:pPr indent="0" marL="0">
              <a:buNone/>
            </a:pPr>
            <a:r>
              <a:rPr lang="en-US" sz="1600" b="1" dirty="0">
                <a:solidFill>
                  <a:srgbClr val="0C2340"/>
                </a:solidFill>
                <a:latin typeface="Cambria" pitchFamily="34" charset="0"/>
                <a:ea typeface="Cambria" pitchFamily="34" charset="-122"/>
                <a:cs typeface="Cambria" pitchFamily="34" charset="-120"/>
              </a:rPr>
              <a:t>Check the result</a:t>
            </a:r>
            <a:endParaRPr lang="en-US" sz="1600" dirty="0"/>
          </a:p>
        </p:txBody>
      </p:sp>
      <p:sp>
        <p:nvSpPr>
          <p:cNvPr id="24" name="Text 22"/>
          <p:cNvSpPr txBox="1"/>
          <p:nvPr/>
        </p:nvSpPr>
        <p:spPr>
          <a:xfrm>
            <a:off x="3749040" y="4626864"/>
            <a:ext cx="31089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Playwright, Chromium</a:t>
            </a:r>
            <a:endParaRPr lang="en-US" sz="1400" dirty="0"/>
          </a:p>
        </p:txBody>
      </p:sp>
      <p:sp>
        <p:nvSpPr>
          <p:cNvPr id="25" name="Text 23"/>
          <p:cNvSpPr txBox="1"/>
          <p:nvPr/>
        </p:nvSpPr>
        <p:spPr>
          <a:xfrm>
            <a:off x="7040880" y="4626864"/>
            <a:ext cx="4480560" cy="694944"/>
          </a:xfrm>
          <a:prstGeom prst="rect">
            <a:avLst/>
          </a:prstGeom>
          <a:noFill/>
          <a:ln/>
        </p:spPr>
        <p:txBody>
          <a:bodyPr wrap="square" lIns="0" tIns="0" rIns="0" bIns="0" rtlCol="0" anchor="ctr"/>
          <a:lstStyle/>
          <a:p>
            <a:pPr indent="0" marL="0">
              <a:buNone/>
            </a:pPr>
            <a:r>
              <a:rPr lang="en-US" sz="1400" dirty="0">
                <a:solidFill>
                  <a:srgbClr val="1A2130"/>
                </a:solidFill>
                <a:latin typeface="Calibri" pitchFamily="34" charset="0"/>
                <a:ea typeface="Calibri" pitchFamily="34" charset="-122"/>
                <a:cs typeface="Calibri" pitchFamily="34" charset="-120"/>
              </a:rPr>
              <a:t>Take the screenshots and run the automatic placement checks in a real browser.</a:t>
            </a:r>
            <a:endParaRPr lang="en-US" sz="1400" dirty="0"/>
          </a:p>
        </p:txBody>
      </p:sp>
      <p:sp>
        <p:nvSpPr>
          <p:cNvPr id="26" name="Text 24"/>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400" b="1" dirty="0">
                <a:solidFill>
                  <a:srgbClr val="0C2340"/>
                </a:solidFill>
                <a:latin typeface="Calibri" pitchFamily="34" charset="0"/>
                <a:ea typeface="Calibri" pitchFamily="34" charset="-122"/>
                <a:cs typeface="Calibri" pitchFamily="34" charset="-120"/>
              </a:rPr>
              <a:t>Checks: </a:t>
            </a:r>
            <a:pPr indent="0" marL="0">
              <a:buNone/>
            </a:pPr>
            <a:r>
              <a:rPr lang="en-US" sz="1400" dirty="0">
                <a:solidFill>
                  <a:srgbClr val="1A2130"/>
                </a:solidFill>
                <a:latin typeface="Calibri" pitchFamily="34" charset="0"/>
                <a:ea typeface="Calibri" pitchFamily="34" charset="-122"/>
                <a:cs typeface="Calibri" pitchFamily="34" charset="-120"/>
              </a:rPr>
              <a:t>no label-to-line collisions were detected in the tested screen and PDF renders. That supports readability; it does not prove a number belongs to the right physical lot.</a:t>
            </a:r>
            <a:endParaRPr lang="en-US" sz="1400" dirty="0"/>
          </a:p>
        </p:txBody>
      </p:sp>
      <p:sp>
        <p:nvSpPr>
          <p:cNvPr id="27" name="Text 25"/>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400" b="1" dirty="0">
                <a:solidFill>
                  <a:srgbClr val="0C2340"/>
                </a:solidFill>
                <a:latin typeface="Calibri" pitchFamily="34" charset="0"/>
                <a:ea typeface="Calibri" pitchFamily="34" charset="-122"/>
                <a:cs typeface="Calibri" pitchFamily="34" charset="-120"/>
              </a:rPr>
              <a:t>Formats: </a:t>
            </a:r>
            <a:pPr indent="0" marL="0">
              <a:buNone/>
            </a:pPr>
            <a:r>
              <a:rPr lang="en-US" sz="1400" dirty="0">
                <a:solidFill>
                  <a:srgbClr val="1A2130"/>
                </a:solidFill>
                <a:latin typeface="Calibri" pitchFamily="34" charset="0"/>
                <a:ea typeface="Calibri" pitchFamily="34" charset="-122"/>
                <a:cs typeface="Calibri" pitchFamily="34" charset="-120"/>
              </a:rPr>
              <a:t>.ai (source) &gt; JSON (working data) &gt; SVG (map), PDF, CSV and Excel (.xlsx) (outputs).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One task from start to finish: find lot F 34 and open it</a:t>
            </a:r>
            <a:endParaRPr lang="en-US" sz="3000" dirty="0"/>
          </a:p>
        </p:txBody>
      </p:sp>
      <p:sp>
        <p:nvSpPr>
          <p:cNvPr id="3" name="Status 1  Type a legacy label or H-number"/>
          <p:cNvSpPr txBox="1"/>
          <p:nvPr/>
        </p:nvSpPr>
        <p:spPr>
          <a:xfrm>
            <a:off x="548640" y="1280160"/>
            <a:ext cx="3291840" cy="292608"/>
          </a:xfrm>
          <a:prstGeom prst="rect">
            <a:avLst/>
          </a:prstGeom>
          <a:solidFill>
            <a:srgbClr val="0C2340"/>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  Type a legacy label or H-number</a:t>
            </a:r>
            <a:endParaRPr lang="en-US" sz="1200" dirty="0"/>
          </a:p>
        </p:txBody>
      </p:sp>
      <p:sp>
        <p:nvSpPr>
          <p:cNvPr id="4" name="Status 2  Select it: the lot is zoomed, highlighted, described"/>
          <p:cNvSpPr txBox="1"/>
          <p:nvPr/>
        </p:nvSpPr>
        <p:spPr>
          <a:xfrm>
            <a:off x="6492240" y="1280160"/>
            <a:ext cx="4480560" cy="292608"/>
          </a:xfrm>
          <a:prstGeom prst="rect">
            <a:avLst/>
          </a:prstGeom>
          <a:solidFill>
            <a:srgbClr val="0C2340"/>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  Select it: the lot is zoomed, highlighted, described</a:t>
            </a:r>
            <a:endParaRPr lang="en-US" sz="1200" dirty="0"/>
          </a:p>
        </p:txBody>
      </p:sp>
      <p:pic>
        <p:nvPicPr>
          <p:cNvPr id="5" name="Search step" descr="Typing F 34 lists lot H001914">    </p:cNvPr>
          <p:cNvPicPr>
            <a:picLocks noChangeAspect="1"/>
          </p:cNvPicPr>
          <p:nvPr/>
        </p:nvPicPr>
        <p:blipFill>
          <a:blip r:embed="rId1"/>
          <a:stretch>
            <a:fillRect/>
          </a:stretch>
        </p:blipFill>
        <p:spPr>
          <a:xfrm>
            <a:off x="548640" y="1691640"/>
            <a:ext cx="5029200" cy="1999561"/>
          </a:xfrm>
          <a:prstGeom prst="rect">
            <a:avLst/>
          </a:prstGeom>
          <a:effectLst>
            <a:outerShdw sx="100000" sy="100000" kx="0" ky="0" algn="bl" rotWithShape="0" blurRad="101600" dist="25400" dir="5400000">
              <a:srgbClr val="000000">
                <a:alpha val="18000"/>
              </a:srgbClr>
            </a:outerShdw>
          </a:effectLst>
        </p:spPr>
      </p:pic>
      <p:pic>
        <p:nvPicPr>
          <p:cNvPr id="6" name="Select step" descr="Lot H001914 highlighted with its details panel">    </p:cNvPr>
          <p:cNvPicPr>
            <a:picLocks noChangeAspect="1"/>
          </p:cNvPicPr>
          <p:nvPr/>
        </p:nvPicPr>
        <p:blipFill>
          <a:blip r:embed="rId2"/>
          <a:stretch>
            <a:fillRect/>
          </a:stretch>
        </p:blipFill>
        <p:spPr>
          <a:xfrm>
            <a:off x="6492240" y="1691640"/>
            <a:ext cx="5120640" cy="3258589"/>
          </a:xfrm>
          <a:prstGeom prst="rect">
            <a:avLst/>
          </a:prstGeom>
          <a:effectLst>
            <a:outerShdw sx="100000" sy="100000" kx="0" ky="0" algn="bl" rotWithShape="0" blurRad="101600" dist="25400" dir="5400000">
              <a:srgbClr val="000000">
                <a:alpha val="18000"/>
              </a:srgbClr>
            </a:outerShdw>
          </a:effectLst>
        </p:spPr>
      </p:pic>
      <p:sp>
        <p:nvSpPr>
          <p:cNvPr id="7" name="Workflow arrow"/>
          <p:cNvSpPr/>
          <p:nvPr/>
        </p:nvSpPr>
        <p:spPr>
          <a:xfrm>
            <a:off x="5669280" y="2743200"/>
            <a:ext cx="685800" cy="457200"/>
          </a:xfrm>
          <a:prstGeom prst="rightArrow">
            <a:avLst/>
          </a:prstGeom>
          <a:solidFill>
            <a:srgbClr val="B8892F"/>
          </a:solidFill>
          <a:ln w="6350">
            <a:solidFill>
              <a:srgbClr val="B8892F"/>
            </a:solidFill>
            <a:prstDash val="solid"/>
          </a:ln>
        </p:spPr>
      </p:sp>
      <p:sp>
        <p:nvSpPr>
          <p:cNvPr id="8" name="Status Working: tested in a browser"/>
          <p:cNvSpPr txBox="1"/>
          <p:nvPr/>
        </p:nvSpPr>
        <p:spPr>
          <a:xfrm>
            <a:off x="548640" y="4160520"/>
            <a:ext cx="2651760" cy="292608"/>
          </a:xfrm>
          <a:prstGeom prst="rect">
            <a:avLst/>
          </a:prstGeom>
          <a:solidFill>
            <a:srgbClr val="2F6B46"/>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Working: tested in a browser</a:t>
            </a:r>
            <a:endParaRPr lang="en-US" sz="1200" dirty="0"/>
          </a:p>
        </p:txBody>
      </p:sp>
      <p:sp>
        <p:nvSpPr>
          <p:cNvPr id="9" name="Text 5"/>
          <p:cNvSpPr txBox="1"/>
          <p:nvPr/>
        </p:nvSpPr>
        <p:spPr>
          <a:xfrm>
            <a:off x="548640" y="4526280"/>
            <a:ext cx="5029200" cy="822960"/>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Search takes an H-number, a legacy lot, or a recorded name. Name search is implemented but cannot be shown until burial records exist.</a:t>
            </a:r>
            <a:endParaRPr lang="en-US" sz="1400" dirty="0"/>
          </a:p>
        </p:txBody>
      </p:sp>
      <p:sp>
        <p:nvSpPr>
          <p:cNvPr id="10" name="Text 6"/>
          <p:cNvSpPr txBox="1"/>
          <p:nvPr/>
        </p:nvSpPr>
        <p:spPr>
          <a:xfrm>
            <a:off x="548640" y="5394960"/>
            <a:ext cx="5029200" cy="868680"/>
          </a:xfrm>
          <a:prstGeom prst="rect">
            <a:avLst/>
          </a:prstGeom>
          <a:noFill/>
          <a:ln/>
        </p:spPr>
        <p:txBody>
          <a:bodyPr wrap="square" lIns="0" tIns="0" rIns="0" bIns="0" rtlCol="0" anchor="t"/>
          <a:lstStyle/>
          <a:p>
            <a:pPr indent="0" marL="0">
              <a:buNone/>
            </a:pPr>
            <a:r>
              <a:rPr lang="en-US" sz="1400" b="1" dirty="0">
                <a:solidFill>
                  <a:srgbClr val="0C2340"/>
                </a:solidFill>
                <a:latin typeface="Calibri" pitchFamily="34" charset="0"/>
                <a:ea typeface="Calibri" pitchFamily="34" charset="-122"/>
                <a:cs typeface="Calibri" pitchFamily="34" charset="-120"/>
              </a:rPr>
              <a:t>Open decision: </a:t>
            </a:r>
            <a:pPr indent="0" marL="0">
              <a:buNone/>
            </a:pPr>
            <a:r>
              <a:rPr lang="en-US" sz="1400" dirty="0">
                <a:solidFill>
                  <a:srgbClr val="1A2130"/>
                </a:solidFill>
                <a:latin typeface="Calibri" pitchFamily="34" charset="0"/>
                <a:ea typeface="Calibri" pitchFamily="34" charset="-122"/>
                <a:cs typeface="Calibri" pitchFamily="34" charset="-120"/>
              </a:rPr>
              <a:t>the sidebar still groups lots by legacy section letter, labelled as cross-reference. I kept it because no approved area grouping exists yet.</a:t>
            </a:r>
            <a:endParaRPr lang="en-US" sz="1400" dirty="0"/>
          </a:p>
        </p:txBody>
      </p:sp>
      <p:sp>
        <p:nvSpPr>
          <p:cNvPr id="11" name="Text 7"/>
          <p:cNvSpPr txBox="1"/>
          <p:nvPr/>
        </p:nvSpPr>
        <p:spPr>
          <a:xfrm>
            <a:off x="6492240" y="5120640"/>
            <a:ext cx="5120640" cy="640080"/>
          </a:xfrm>
          <a:prstGeom prst="rect">
            <a:avLst/>
          </a:prstGeom>
          <a:noFill/>
          <a:ln/>
        </p:spPr>
        <p:txBody>
          <a:bodyPr wrap="square" lIns="0" tIns="0" rIns="0" bIns="0" rtlCol="0" anchor="t"/>
          <a:lstStyle/>
          <a:p>
            <a:pPr indent="0" marL="0">
              <a:buNone/>
            </a:pPr>
            <a:r>
              <a:rPr lang="en-US" sz="1400" dirty="0">
                <a:solidFill>
                  <a:srgbClr val="1A2130"/>
                </a:solidFill>
                <a:latin typeface="Calibri" pitchFamily="34" charset="0"/>
                <a:ea typeface="Calibri" pitchFamily="34" charset="-122"/>
                <a:cs typeface="Calibri" pitchFamily="34" charset="-120"/>
              </a:rPr>
              <a:t>The panel stays beside the lot, so the selected lot is never covered. Back and Fit map return to earlier views.</a:t>
            </a:r>
            <a:endParaRPr lang="en-US" sz="14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Records, editing and exports: built, with live testing still to do</a:t>
            </a:r>
            <a:endParaRPr lang="en-US" sz="3000" dirty="0"/>
          </a:p>
        </p:txBody>
      </p:sp>
      <p:sp>
        <p:nvSpPr>
          <p:cNvPr id="3" name="Status Editing: not tested live"/>
          <p:cNvSpPr txBox="1"/>
          <p:nvPr/>
        </p:nvSpPr>
        <p:spPr>
          <a:xfrm>
            <a:off x="548640" y="1280160"/>
            <a:ext cx="2331720" cy="292608"/>
          </a:xfrm>
          <a:prstGeom prst="rect">
            <a:avLst/>
          </a:prstGeom>
          <a:solidFill>
            <a:srgbClr val="B87A1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Editing: not tested live</a:t>
            </a:r>
            <a:endParaRPr lang="en-US" sz="1200" dirty="0"/>
          </a:p>
        </p:txBody>
      </p:sp>
      <p:sp>
        <p:nvSpPr>
          <p:cNvPr id="4" name="Status Viewing: working"/>
          <p:cNvSpPr txBox="1"/>
          <p:nvPr/>
        </p:nvSpPr>
        <p:spPr>
          <a:xfrm>
            <a:off x="3200400" y="1280160"/>
            <a:ext cx="1645920" cy="292608"/>
          </a:xfrm>
          <a:prstGeom prst="rect">
            <a:avLst/>
          </a:prstGeom>
          <a:solidFill>
            <a:srgbClr val="2F6B46"/>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Viewing: working</a:t>
            </a:r>
            <a:endParaRPr lang="en-US" sz="1200" dirty="0"/>
          </a:p>
        </p:txBody>
      </p:sp>
      <p:sp>
        <p:nvSpPr>
          <p:cNvPr id="5" name="Status Files built; download untested"/>
          <p:cNvSpPr txBox="1"/>
          <p:nvPr/>
        </p:nvSpPr>
        <p:spPr>
          <a:xfrm>
            <a:off x="6537960" y="1280160"/>
            <a:ext cx="2560320" cy="292608"/>
          </a:xfrm>
          <a:prstGeom prst="rect">
            <a:avLst/>
          </a:prstGeom>
          <a:solidFill>
            <a:srgbClr val="B87A1F"/>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Files built; download untested</a:t>
            </a:r>
            <a:endParaRPr lang="en-US" sz="1200" dirty="0"/>
          </a:p>
        </p:txBody>
      </p:sp>
      <p:pic>
        <p:nvPicPr>
          <p:cNvPr id="6" name="Edit form" descr="Edit form: grave count, one record, Save and Cancel">    </p:cNvPr>
          <p:cNvPicPr>
            <a:picLocks noChangeAspect="1"/>
          </p:cNvPicPr>
          <p:nvPr/>
        </p:nvPicPr>
        <p:blipFill>
          <a:blip r:embed="rId1"/>
          <a:stretch>
            <a:fillRect/>
          </a:stretch>
        </p:blipFill>
        <p:spPr>
          <a:xfrm>
            <a:off x="548640" y="1645920"/>
            <a:ext cx="2331720" cy="4594491"/>
          </a:xfrm>
          <a:prstGeom prst="rect">
            <a:avLst/>
          </a:prstGeom>
          <a:effectLst>
            <a:outerShdw sx="100000" sy="100000" kx="0" ky="0" algn="bl" rotWithShape="0" blurRad="101600" dist="25400" dir="5400000">
              <a:srgbClr val="000000">
                <a:alpha val="18000"/>
              </a:srgbClr>
            </a:outerShdw>
          </a:effectLst>
        </p:spPr>
      </p:pic>
      <p:pic>
        <p:nvPicPr>
          <p:cNvPr id="7" name="Viewer panel" descr="Lot panel as a viewer sees it">    </p:cNvPr>
          <p:cNvPicPr>
            <a:picLocks noChangeAspect="1"/>
          </p:cNvPicPr>
          <p:nvPr/>
        </p:nvPicPr>
        <p:blipFill>
          <a:blip r:embed="rId2"/>
          <a:stretch>
            <a:fillRect/>
          </a:stretch>
        </p:blipFill>
        <p:spPr>
          <a:xfrm>
            <a:off x="3200400" y="1645920"/>
            <a:ext cx="3017520" cy="3366319"/>
          </a:xfrm>
          <a:prstGeom prst="rect">
            <a:avLst/>
          </a:prstGeom>
          <a:effectLst>
            <a:outerShdw sx="100000" sy="100000" kx="0" ky="0" algn="bl" rotWithShape="0" blurRad="101600" dist="25400" dir="5400000">
              <a:srgbClr val="000000">
                <a:alpha val="18000"/>
              </a:srgbClr>
            </a:outerShdw>
          </a:effectLst>
        </p:spPr>
      </p:pic>
      <p:pic>
        <p:nvPicPr>
          <p:cNvPr id="8" name="Export dialog" descr="Export dialog: PDF, Excel and CSV">    </p:cNvPr>
          <p:cNvPicPr>
            <a:picLocks noChangeAspect="1"/>
          </p:cNvPicPr>
          <p:nvPr/>
        </p:nvPicPr>
        <p:blipFill>
          <a:blip r:embed="rId3"/>
          <a:stretch>
            <a:fillRect/>
          </a:stretch>
        </p:blipFill>
        <p:spPr>
          <a:xfrm>
            <a:off x="6537960" y="1645920"/>
            <a:ext cx="4206240" cy="3332636"/>
          </a:xfrm>
          <a:prstGeom prst="rect">
            <a:avLst/>
          </a:prstGeom>
          <a:effectLst>
            <a:outerShdw sx="100000" sy="100000" kx="0" ky="0" algn="bl" rotWithShape="0" blurRad="101600" dist="25400" dir="5400000">
              <a:srgbClr val="000000">
                <a:alpha val="18000"/>
              </a:srgbClr>
            </a:outerShdw>
          </a:effectLst>
        </p:spPr>
      </p:pic>
      <p:sp>
        <p:nvSpPr>
          <p:cNvPr id="9" name="Text 4"/>
          <p:cNvSpPr txBox="1"/>
          <p:nvPr/>
        </p:nvSpPr>
        <p:spPr>
          <a:xfrm>
            <a:off x="3200400" y="5120640"/>
            <a:ext cx="3017520" cy="731520"/>
          </a:xfrm>
          <a:prstGeom prst="rect">
            <a:avLst/>
          </a:prstGeom>
          <a:noFill/>
          <a:ln/>
        </p:spPr>
        <p:txBody>
          <a:bodyPr wrap="square" lIns="0" tIns="0" rIns="0" bIns="0" rtlCol="0" anchor="t"/>
          <a:lstStyle/>
          <a:p>
            <a:pPr indent="0" marL="0">
              <a:buNone/>
            </a:pPr>
            <a:r>
              <a:rPr lang="en-US" sz="1200" dirty="0">
                <a:solidFill>
                  <a:srgbClr val="1A2130"/>
                </a:solidFill>
                <a:latin typeface="Calibri" pitchFamily="34" charset="0"/>
                <a:ea typeface="Calibri" pitchFamily="34" charset="-122"/>
                <a:cs typeface="Calibri" pitchFamily="34" charset="-120"/>
              </a:rPr>
              <a:t>Each record is one burial in the lot. Grave position is optional text, marked verified or not. Fields start empty and say so.</a:t>
            </a:r>
            <a:endParaRPr lang="en-US" sz="1200" dirty="0"/>
          </a:p>
        </p:txBody>
      </p:sp>
      <p:sp>
        <p:nvSpPr>
          <p:cNvPr id="10" name="Text 5"/>
          <p:cNvSpPr txBox="1"/>
          <p:nvPr/>
        </p:nvSpPr>
        <p:spPr>
          <a:xfrm>
            <a:off x="3200400" y="5760720"/>
            <a:ext cx="3017520" cy="594360"/>
          </a:xfrm>
          <a:prstGeom prst="rect">
            <a:avLst/>
          </a:prstGeom>
          <a:noFill/>
          <a:ln/>
        </p:spPr>
        <p:txBody>
          <a:bodyPr wrap="square" lIns="0" tIns="0" rIns="0" bIns="0" rtlCol="0" anchor="t"/>
          <a:lstStyle/>
          <a:p>
            <a:pPr indent="0" marL="0">
              <a:buNone/>
            </a:pPr>
            <a:r>
              <a:rPr lang="en-US" sz="1200" dirty="0">
                <a:solidFill>
                  <a:srgbClr val="566274"/>
                </a:solidFill>
                <a:latin typeface="Calibri" pitchFamily="34" charset="0"/>
                <a:ea typeface="Calibri" pitchFamily="34" charset="-122"/>
                <a:cs typeface="Calibri" pitchFamily="34" charset="-120"/>
              </a:rPr>
              <a:t>A standard viewer's write was refused in a service-level test. Editing is not yet tried with real editor accounts in the browser.</a:t>
            </a:r>
            <a:endParaRPr lang="en-US" sz="1200" dirty="0"/>
          </a:p>
        </p:txBody>
      </p:sp>
      <p:sp>
        <p:nvSpPr>
          <p:cNvPr id="11" name="Text 6"/>
          <p:cNvSpPr txBox="1"/>
          <p:nvPr/>
        </p:nvSpPr>
        <p:spPr>
          <a:xfrm>
            <a:off x="6537960" y="5577840"/>
            <a:ext cx="4206240" cy="731520"/>
          </a:xfrm>
          <a:prstGeom prst="rect">
            <a:avLst/>
          </a:prstGeom>
          <a:noFill/>
          <a:ln/>
        </p:spPr>
        <p:txBody>
          <a:bodyPr wrap="square" lIns="0" tIns="0" rIns="0" bIns="0" rtlCol="0" anchor="t"/>
          <a:lstStyle/>
          <a:p>
            <a:pPr indent="0" marL="0">
              <a:buNone/>
            </a:pPr>
            <a:r>
              <a:rPr lang="en-US" sz="1200" dirty="0">
                <a:solidFill>
                  <a:srgbClr val="1A2130"/>
                </a:solidFill>
                <a:latin typeface="Calibri" pitchFamily="34" charset="0"/>
                <a:ea typeface="Calibri" pitchFamily="34" charset="-122"/>
                <a:cs typeface="Calibri" pitchFamily="34" charset="-120"/>
              </a:rPr>
              <a:t>PDF, CSV and Excel (.xlsx) files are generated. Downloading them from the hosted page, and the record import, still need testing.</a:t>
            </a:r>
            <a:endParaRPr lang="en-US" sz="12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20040"/>
            <a:ext cx="11064240" cy="731520"/>
          </a:xfrm>
          <a:prstGeom prst="rect">
            <a:avLst/>
          </a:prstGeom>
          <a:noFill/>
          <a:ln/>
        </p:spPr>
        <p:txBody>
          <a:bodyPr wrap="square" lIns="0" tIns="0" rIns="0" bIns="0" rtlCol="0" anchor="ctr"/>
          <a:lstStyle/>
          <a:p>
            <a:pPr indent="0" marL="0">
              <a:buNone/>
            </a:pPr>
            <a:r>
              <a:rPr lang="en-US" sz="3000" b="1" dirty="0">
                <a:solidFill>
                  <a:srgbClr val="0C2340"/>
                </a:solidFill>
                <a:latin typeface="Cambria" pitchFamily="34" charset="0"/>
                <a:ea typeface="Cambria" pitchFamily="34" charset="-122"/>
                <a:cs typeface="Cambria" pitchFamily="34" charset="-120"/>
              </a:rPr>
              <a:t>Next steps: who does what</a:t>
            </a:r>
            <a:endParaRPr lang="en-US" sz="3000" dirty="0"/>
          </a:p>
        </p:txBody>
      </p:sp>
      <p:sp>
        <p:nvSpPr>
          <p:cNvPr id="3" name="My next development work"/>
          <p:cNvSpPr/>
          <p:nvPr/>
        </p:nvSpPr>
        <p:spPr>
          <a:xfrm>
            <a:off x="548640" y="1234440"/>
            <a:ext cx="3566160" cy="3977640"/>
          </a:xfrm>
          <a:prstGeom prst="rect">
            <a:avLst/>
          </a:prstGeom>
          <a:solidFill>
            <a:srgbClr val="F2F4F7"/>
          </a:solidFill>
          <a:ln w="6350">
            <a:solidFill>
              <a:srgbClr val="DDE3EA"/>
            </a:solidFill>
            <a:prstDash val="solid"/>
          </a:ln>
        </p:spPr>
      </p:sp>
      <p:sp>
        <p:nvSpPr>
          <p:cNvPr id="4" name="Text 2"/>
          <p:cNvSpPr txBox="1"/>
          <p:nvPr/>
        </p:nvSpPr>
        <p:spPr>
          <a:xfrm>
            <a:off x="731520" y="1371600"/>
            <a:ext cx="3200400" cy="365760"/>
          </a:xfrm>
          <a:prstGeom prst="rect">
            <a:avLst/>
          </a:prstGeom>
          <a:noFill/>
          <a:ln/>
        </p:spPr>
        <p:txBody>
          <a:bodyPr wrap="square" lIns="0" tIns="0" rIns="0" bIns="0" rtlCol="0" anchor="ctr"/>
          <a:lstStyle/>
          <a:p>
            <a:pPr indent="0" marL="0">
              <a:buNone/>
            </a:pPr>
            <a:r>
              <a:rPr lang="en-US" sz="1700" b="1" dirty="0">
                <a:solidFill>
                  <a:srgbClr val="0C2340"/>
                </a:solidFill>
                <a:latin typeface="Cambria" pitchFamily="34" charset="0"/>
                <a:ea typeface="Cambria" pitchFamily="34" charset="-122"/>
                <a:cs typeface="Cambria" pitchFamily="34" charset="-120"/>
              </a:rPr>
              <a:t>My next development work</a:t>
            </a:r>
            <a:endParaRPr lang="en-US" sz="1700" dirty="0"/>
          </a:p>
        </p:txBody>
      </p:sp>
      <p:sp>
        <p:nvSpPr>
          <p:cNvPr id="5" name="Text 3"/>
          <p:cNvSpPr txBox="1"/>
          <p:nvPr/>
        </p:nvSpPr>
        <p:spPr>
          <a:xfrm>
            <a:off x="731520" y="1874520"/>
            <a:ext cx="320040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Spot-check the 394 inferred-section lots, weakest 46 first</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Fix the exceptions I can: 9 unlabelled outlines, 3 lots too small for a number</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Validate the record import and report matched and skipped rows</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Test editing and downloads on the hosted page</a:t>
            </a:r>
            <a:endParaRPr lang="en-US" sz="1600" dirty="0"/>
          </a:p>
        </p:txBody>
      </p:sp>
      <p:sp>
        <p:nvSpPr>
          <p:cNvPr id="6" name="Needed from cemetery staff"/>
          <p:cNvSpPr/>
          <p:nvPr/>
        </p:nvSpPr>
        <p:spPr>
          <a:xfrm>
            <a:off x="4297680" y="1234440"/>
            <a:ext cx="3566160" cy="3977640"/>
          </a:xfrm>
          <a:prstGeom prst="rect">
            <a:avLst/>
          </a:prstGeom>
          <a:solidFill>
            <a:srgbClr val="F2F4F7"/>
          </a:solidFill>
          <a:ln w="6350">
            <a:solidFill>
              <a:srgbClr val="DDE3EA"/>
            </a:solidFill>
            <a:prstDash val="solid"/>
          </a:ln>
        </p:spPr>
      </p:sp>
      <p:sp>
        <p:nvSpPr>
          <p:cNvPr id="7" name="Text 5"/>
          <p:cNvSpPr txBox="1"/>
          <p:nvPr/>
        </p:nvSpPr>
        <p:spPr>
          <a:xfrm>
            <a:off x="4480560" y="1371600"/>
            <a:ext cx="3200400" cy="365760"/>
          </a:xfrm>
          <a:prstGeom prst="rect">
            <a:avLst/>
          </a:prstGeom>
          <a:noFill/>
          <a:ln/>
        </p:spPr>
        <p:txBody>
          <a:bodyPr wrap="square" lIns="0" tIns="0" rIns="0" bIns="0" rtlCol="0" anchor="ctr"/>
          <a:lstStyle/>
          <a:p>
            <a:pPr indent="0" marL="0">
              <a:buNone/>
            </a:pPr>
            <a:r>
              <a:rPr lang="en-US" sz="1700" b="1" dirty="0">
                <a:solidFill>
                  <a:srgbClr val="0C2340"/>
                </a:solidFill>
                <a:latin typeface="Cambria" pitchFamily="34" charset="0"/>
                <a:ea typeface="Cambria" pitchFamily="34" charset="-122"/>
                <a:cs typeface="Cambria" pitchFamily="34" charset="-120"/>
              </a:rPr>
              <a:t>Needed from cemetery staff</a:t>
            </a:r>
            <a:endParaRPr lang="en-US" sz="1700" dirty="0"/>
          </a:p>
        </p:txBody>
      </p:sp>
      <p:sp>
        <p:nvSpPr>
          <p:cNvPr id="8" name="Text 6"/>
          <p:cNvSpPr txBox="1"/>
          <p:nvPr/>
        </p:nvSpPr>
        <p:spPr>
          <a:xfrm>
            <a:off x="4480560" y="1874520"/>
            <a:ext cx="320040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A sample burial-record spreadsheet, even 20 rows</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Any lot-capacity or grave-position records</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Someone to rule on the numbering conflicts: B 373 to 380H, G lot 19, A 20H to 343H, B-side 395 to 414, crypt rows</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A short session to test editing with real accounts</a:t>
            </a:r>
            <a:endParaRPr lang="en-US" sz="1600" dirty="0"/>
          </a:p>
        </p:txBody>
      </p:sp>
      <p:sp>
        <p:nvSpPr>
          <p:cNvPr id="9" name="To settle together"/>
          <p:cNvSpPr/>
          <p:nvPr/>
        </p:nvSpPr>
        <p:spPr>
          <a:xfrm>
            <a:off x="8046720" y="1234440"/>
            <a:ext cx="3566160" cy="3977640"/>
          </a:xfrm>
          <a:prstGeom prst="rect">
            <a:avLst/>
          </a:prstGeom>
          <a:solidFill>
            <a:srgbClr val="F2F4F7"/>
          </a:solidFill>
          <a:ln w="6350">
            <a:solidFill>
              <a:srgbClr val="DDE3EA"/>
            </a:solidFill>
            <a:prstDash val="solid"/>
          </a:ln>
        </p:spPr>
      </p:sp>
      <p:sp>
        <p:nvSpPr>
          <p:cNvPr id="10" name="Text 8"/>
          <p:cNvSpPr txBox="1"/>
          <p:nvPr/>
        </p:nvSpPr>
        <p:spPr>
          <a:xfrm>
            <a:off x="8229600" y="1371600"/>
            <a:ext cx="3200400" cy="365760"/>
          </a:xfrm>
          <a:prstGeom prst="rect">
            <a:avLst/>
          </a:prstGeom>
          <a:noFill/>
          <a:ln/>
        </p:spPr>
        <p:txBody>
          <a:bodyPr wrap="square" lIns="0" tIns="0" rIns="0" bIns="0" rtlCol="0" anchor="ctr"/>
          <a:lstStyle/>
          <a:p>
            <a:pPr indent="0" marL="0">
              <a:buNone/>
            </a:pPr>
            <a:r>
              <a:rPr lang="en-US" sz="1700" b="1" dirty="0">
                <a:solidFill>
                  <a:srgbClr val="0C2340"/>
                </a:solidFill>
                <a:latin typeface="Cambria" pitchFamily="34" charset="0"/>
                <a:ea typeface="Cambria" pitchFamily="34" charset="-122"/>
                <a:cs typeface="Cambria" pitchFamily="34" charset="-120"/>
              </a:rPr>
              <a:t>To settle together</a:t>
            </a:r>
            <a:endParaRPr lang="en-US" sz="1700" dirty="0"/>
          </a:p>
        </p:txBody>
      </p:sp>
      <p:sp>
        <p:nvSpPr>
          <p:cNvPr id="11" name="Text 9"/>
          <p:cNvSpPr txBox="1"/>
          <p:nvPr/>
        </p:nvSpPr>
        <p:spPr>
          <a:xfrm>
            <a:off x="8229600" y="1874520"/>
            <a:ext cx="3200400" cy="32918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Area names to show instead of legacy section letters</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Which resolved conflicts to accept</a:t>
            </a:r>
            <a:endParaRPr lang="en-US" sz="1600" dirty="0"/>
          </a:p>
          <a:p>
            <a:pPr marL="342900" indent="-342900">
              <a:spcAft>
                <a:spcPts val="800"/>
              </a:spcAft>
              <a:buSzPct val="100000"/>
              <a:buChar char="•"/>
            </a:pPr>
            <a:r>
              <a:rPr lang="en-US" sz="1600" dirty="0">
                <a:solidFill>
                  <a:srgbClr val="1A2130"/>
                </a:solidFill>
                <a:latin typeface="Calibri" pitchFamily="34" charset="0"/>
                <a:ea typeface="Calibri" pitchFamily="34" charset="-122"/>
                <a:cs typeface="Calibri" pitchFamily="34" charset="-120"/>
              </a:rPr>
              <a:t>Logo and where the site is hosted</a:t>
            </a:r>
            <a:endParaRPr lang="en-US" sz="1600" dirty="0"/>
          </a:p>
        </p:txBody>
      </p:sp>
      <p:sp>
        <p:nvSpPr>
          <p:cNvPr id="12" name="Next milestone"/>
          <p:cNvSpPr/>
          <p:nvPr/>
        </p:nvSpPr>
        <p:spPr>
          <a:xfrm>
            <a:off x="548640" y="5440680"/>
            <a:ext cx="11064240" cy="777240"/>
          </a:xfrm>
          <a:prstGeom prst="rect">
            <a:avLst/>
          </a:prstGeom>
          <a:solidFill>
            <a:srgbClr val="0C2340"/>
          </a:solidFill>
          <a:ln w="6350">
            <a:solidFill>
              <a:srgbClr val="0C2340"/>
            </a:solidFill>
            <a:prstDash val="solid"/>
          </a:ln>
        </p:spPr>
      </p:sp>
      <p:sp>
        <p:nvSpPr>
          <p:cNvPr id="13" name="Text 11"/>
          <p:cNvSpPr txBox="1"/>
          <p:nvPr/>
        </p:nvSpPr>
        <p:spPr>
          <a:xfrm>
            <a:off x="777240" y="5440680"/>
            <a:ext cx="10607040" cy="777240"/>
          </a:xfrm>
          <a:prstGeom prst="rect">
            <a:avLst/>
          </a:prstGeom>
          <a:noFill/>
          <a:ln/>
        </p:spPr>
        <p:txBody>
          <a:bodyPr wrap="square" lIns="0" tIns="0" rIns="0" bIns="0" rtlCol="0" anchor="ctr"/>
          <a:lstStyle/>
          <a:p>
            <a:pPr indent="0" marL="0">
              <a:buNone/>
            </a:pPr>
            <a:r>
              <a:rPr lang="en-US" sz="1600" b="1" dirty="0">
                <a:solidFill>
                  <a:srgbClr val="CADCFC"/>
                </a:solidFill>
                <a:latin typeface="Calibri" pitchFamily="34" charset="0"/>
                <a:ea typeface="Calibri" pitchFamily="34" charset="-122"/>
                <a:cs typeface="Calibri" pitchFamily="34" charset="-120"/>
              </a:rPr>
              <a:t>Next review: </a:t>
            </a:r>
            <a:pPr indent="0" marL="0">
              <a:buNone/>
            </a:pPr>
            <a:r>
              <a:rPr lang="en-US" sz="1600" dirty="0">
                <a:solidFill>
                  <a:srgbClr val="FFFFFF"/>
                </a:solidFill>
                <a:latin typeface="Calibri" pitchFamily="34" charset="0"/>
                <a:ea typeface="Calibri" pitchFamily="34" charset="-122"/>
                <a:cs typeface="Calibri" pitchFamily="34" charset="-120"/>
              </a:rPr>
              <a:t>remaining map exceptions, a sample record import, and verified PDF and Excel downloads.</a:t>
            </a:r>
            <a:endParaRPr lang="en-US" sz="1600" dirty="0"/>
          </a:p>
        </p:txBody>
      </p:sp>
      <p:sp>
        <p:nvSpPr>
          <p:cNvPr id="25" name="Slide Number Placeholder 0"/>
          <p:cNvSpPr>
            <a:spLocks noGrp="1"/>
          </p:cNvSpPr>
          <p:nvPr>
            <p:ph type="sldNum" sz="quarter" idx="4294967295"/>
          </p:nvPr>
        </p:nvSpPr>
        <p:spPr>
          <a:xfrm>
            <a:off x="1115568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27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Cedar Grove Atlas">
  <a:themeElements>
    <a:clrScheme name="Cedar Grove Atlas">
      <a:dk1>
        <a:srgbClr val="1A2130"/>
      </a:dk1>
      <a:lt1>
        <a:srgbClr val="FFFFFF"/>
      </a:lt1>
      <a:dk2>
        <a:srgbClr val="0C2340"/>
      </a:dk2>
      <a:lt2>
        <a:srgbClr val="F2F4F7"/>
      </a:lt2>
      <a:accent1>
        <a:srgbClr val="0C2340"/>
      </a:accent1>
      <a:accent2>
        <a:srgbClr val="B8892F"/>
      </a:accent2>
      <a:accent3>
        <a:srgbClr val="2F6B46"/>
      </a:accent3>
      <a:accent4>
        <a:srgbClr val="C9892F"/>
      </a:accent4>
      <a:accent5>
        <a:srgbClr val="566274"/>
      </a:accent5>
      <a:accent6>
        <a:srgbClr val="8FA3B8"/>
      </a:accent6>
      <a:hlink>
        <a:srgbClr val="3A5578"/>
      </a:hlink>
      <a:folHlink>
        <a:srgbClr val="566274"/>
      </a:folHlink>
    </a:clrScheme>
    <a:fontScheme name="Cedar Grove Atl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Cedar Grove H-Number Atlas: progress update</dc:title>
  <dc:subject>PptxGenJS Presentation</dc:subject>
  <dc:creator>PptxGenJS</dc:creator>
  <cp:lastModifiedBy>PptxGenJS</cp:lastModifiedBy>
  <cp:revision>1</cp:revision>
  <dcterms:created xsi:type="dcterms:W3CDTF">2026-10-12T07:07:42Z</dcterms:created>
  <dcterms:modified xsi:type="dcterms:W3CDTF">2026-10-12T07:07:42Z</dcterms:modified>
</cp:coreProperties>
</file>